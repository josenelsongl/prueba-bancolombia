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Casos</c:v>
                </c:pt>
              </c:strCache>
            </c:strRef>
          </c:tx>
          <c:spPr>
            <a:solidFill>
              <a:srgbClr val="1E2761"/>
            </a:solidFill>
            <a:effectLst/>
          </c:spPr>
          <c:invertIfNegative val="0"/>
          <c:dLbls>
            <c:numFmt formatCode="#,##0" sourceLinked="0"/>
            <c:txPr>
              <a:bodyPr/>
              <a:lstStyle/>
              <a:p>
                <a:pPr>
                  <a:defRPr b="0" i="0" strike="noStrike" sz="1100" u="none">
                    <a:solidFill>
                      <a:srgbClr val="1E2761"/>
                    </a:solidFill>
                    <a:latin typeface="Arial"/>
                  </a:defRPr>
                </a:pPr>
              </a:p>
            </c:txPr>
            <c:showLegendKey val="0"/>
            <c:showVal val="1"/>
            <c:showCatName val="0"/>
            <c:showSerName val="0"/>
            <c:showPercent val="0"/>
            <c:showBubbleSize val="0"/>
            <c:showLeaderLines val="0"/>
          </c:dLbls>
          <c:cat>
            <c:multiLvlStrRef>
              <c:f>Sheet1!$A$2:$A$6</c:f>
              <c:multiLvlStrCache>
                <c:ptCount val="5"/>
                <c:lvl>
                  <c:pt idx="0">
                    <c:v>Ofrecer opción
de pago</c:v>
                  </c:pt>
                  <c:pt idx="1">
                    <c:v>Escalar a
humano</c:v>
                  </c:pt>
                  <c:pt idx="2">
                    <c:v>Monitoreo
sin oferta</c:v>
                  </c:pt>
                  <c:pt idx="3">
                    <c:v>Ofrecer acuerdo
de pago</c:v>
                  </c:pt>
                  <c:pt idx="4">
                    <c:v>Diferir por
auto-cura</c:v>
                  </c:pt>
                </c:lvl>
              </c:multiLvlStrCache>
            </c:multiLvlStrRef>
          </c:cat>
          <c:val>
            <c:numRef>
              <c:f>Sheet1!$B$2:$B$6</c:f>
              <c:numCache>
                <c:formatCode>General</c:formatCode>
                <c:ptCount val="5"/>
                <c:pt idx="0">
                  <c:v>179</c:v>
                </c:pt>
                <c:pt idx="1">
                  <c:v>156</c:v>
                </c:pt>
                <c:pt idx="2">
                  <c:v>34</c:v>
                </c:pt>
                <c:pt idx="3">
                  <c:v>20</c:v>
                </c:pt>
                <c:pt idx="4">
                  <c:v>11</c:v>
                </c:pt>
              </c:numCache>
            </c:numRef>
          </c:val>
        </c:ser>
        <c:dLbls>
          <c:numFmt formatCode="#,##0" sourceLinked="0"/>
          <c:txPr>
            <a:bodyPr/>
            <a:lstStyle/>
            <a:p>
              <a:pPr>
                <a:defRPr b="0" i="0" strike="noStrike" sz="1100" u="none">
                  <a:solidFill>
                    <a:srgbClr val="1E2761"/>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E2761"/>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Presentarse brevemente y anunciar la 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en 15-20 segundos, sin detenerse en cada punto.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Frase ancla: 'anticipar un mes antes la probabilidad de aceptación para priorizar mejor la gestión, y automatizar el ofrecimiento respetando reglas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mayoría de columnas de trtest describen el resultado del mismo mes; por eso no sirven para predecir el mes siguiente sin fuga. OOT = enero-2024, la única que se evalúa realmente.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 + brecha train/valid muestran por qué gana LightGBM. SHAP: historial de pagos y propensión previa dominan la explicación.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con el puntero: elegibilidad decide QUÉ se puede ofrecer, NBA decide cuál priorizar, guardrails valida antes de enviar, y todo queda trazado.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Dirigidas documentan y fijan el comportamiento esperado; masivas dan confianza estadística de que se sostiene a escala, con combinaciones que nadie escribiría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orquestador reparte en tres caminos paralelos: contacto con el cliente, cola humana, y observabilidad — los tres siempre trazados.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 = ya tenemos referencia validada hoy. Ámbar = métrica definida, línea base a establecer en el piloto. La barra de la derecha es la distribución observada en la prueba masiva, útil como línea base de comparación una vez en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para el comité: cerrar aquí, en tono de resultado y control, sin tecnicismos. El pedido es concreto: un piloto, no un despliegue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47"/>
        </a:solidFill>
      </p:bgPr>
    </p:bg>
    <p:spTree>
      <p:nvGrpSpPr>
        <p:cNvPr id="1" name=""/>
        <p:cNvGrpSpPr/>
        <p:nvPr/>
      </p:nvGrpSpPr>
      <p:grpSpPr>
        <a:xfrm>
          <a:off x="0" y="0"/>
          <a:ext cx="0" cy="0"/>
          <a:chOff x="0" y="0"/>
          <a:chExt cx="0" cy="0"/>
        </a:xfrm>
      </p:grpSpPr>
      <p:sp>
        <p:nvSpPr>
          <p:cNvPr id="2" name="Shape 0"/>
          <p:cNvSpPr/>
          <p:nvPr/>
        </p:nvSpPr>
        <p:spPr>
          <a:xfrm>
            <a:off x="8961120" y="-2011680"/>
            <a:ext cx="5486400" cy="5486400"/>
          </a:xfrm>
          <a:prstGeom prst="ellipse">
            <a:avLst/>
          </a:prstGeom>
          <a:solidFill>
            <a:srgbClr val="1E2761"/>
          </a:solidFill>
          <a:ln/>
        </p:spPr>
      </p:sp>
      <p:sp>
        <p:nvSpPr>
          <p:cNvPr id="3" name="Shape 1"/>
          <p:cNvSpPr/>
          <p:nvPr/>
        </p:nvSpPr>
        <p:spPr>
          <a:xfrm>
            <a:off x="10607040" y="3931920"/>
            <a:ext cx="3657600" cy="3657600"/>
          </a:xfrm>
          <a:prstGeom prst="ellipse">
            <a:avLst/>
          </a:prstGeom>
          <a:solidFill>
            <a:srgbClr val="1E2761"/>
          </a:solidFill>
          <a:ln/>
        </p:spPr>
      </p:sp>
      <p:sp>
        <p:nvSpPr>
          <p:cNvPr id="4" name="Text 2"/>
          <p:cNvSpPr txBox="1"/>
          <p:nvPr/>
        </p:nvSpPr>
        <p:spPr>
          <a:xfrm>
            <a:off x="822960" y="1463040"/>
            <a:ext cx="9144000" cy="365760"/>
          </a:xfrm>
          <a:prstGeom prst="rect">
            <a:avLst/>
          </a:prstGeom>
          <a:noFill/>
          <a:ln/>
        </p:spPr>
        <p:txBody>
          <a:bodyPr wrap="square" lIns="0" tIns="0" rIns="0" bIns="0" rtlCol="0" anchor="ctr"/>
          <a:lstStyle/>
          <a:p>
            <a:pPr indent="0" marL="0">
              <a:buNone/>
            </a:pPr>
            <a:r>
              <a:rPr lang="en-US" sz="1300" b="1" spc="300" kern="0" dirty="0">
                <a:solidFill>
                  <a:srgbClr val="E8A33D"/>
                </a:solidFill>
                <a:latin typeface="Calibri" pitchFamily="34" charset="0"/>
                <a:ea typeface="Calibri" pitchFamily="34" charset="-122"/>
                <a:cs typeface="Calibri" pitchFamily="34" charset="-120"/>
              </a:rPr>
              <a:t>PRUEBA TÉCNICA · BANCOLOMBIA</a:t>
            </a:r>
            <a:endParaRPr lang="en-US" sz="1300" dirty="0"/>
          </a:p>
        </p:txBody>
      </p:sp>
      <p:sp>
        <p:nvSpPr>
          <p:cNvPr id="5" name="Text 3"/>
          <p:cNvSpPr txBox="1"/>
          <p:nvPr/>
        </p:nvSpPr>
        <p:spPr>
          <a:xfrm>
            <a:off x="822960" y="1920240"/>
            <a:ext cx="1024128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Modelo de Propensión a Aceptación</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Opciones de Pago + Sistema Agéntico</a:t>
            </a:r>
            <a:endParaRPr lang="en-US" sz="4000" dirty="0"/>
          </a:p>
        </p:txBody>
      </p:sp>
      <p:sp>
        <p:nvSpPr>
          <p:cNvPr id="6" name="Text 4"/>
          <p:cNvSpPr txBox="1"/>
          <p:nvPr/>
        </p:nvSpPr>
        <p:spPr>
          <a:xfrm>
            <a:off x="822960" y="3794760"/>
            <a:ext cx="9144000" cy="457200"/>
          </a:xfrm>
          <a:prstGeom prst="rect">
            <a:avLst/>
          </a:prstGeom>
          <a:noFill/>
          <a:ln/>
        </p:spPr>
        <p:txBody>
          <a:bodyPr wrap="square" lIns="0" tIns="0" rIns="0" bIns="0"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Gestión proactiva y reactiva de cartera en mora</a:t>
            </a:r>
            <a:endParaRPr lang="en-US" sz="1800" dirty="0"/>
          </a:p>
        </p:txBody>
      </p:sp>
      <p:sp>
        <p:nvSpPr>
          <p:cNvPr id="7" name="Shape 5"/>
          <p:cNvSpPr/>
          <p:nvPr/>
        </p:nvSpPr>
        <p:spPr>
          <a:xfrm>
            <a:off x="822960" y="5349240"/>
            <a:ext cx="2011680" cy="0"/>
          </a:xfrm>
          <a:prstGeom prst="line">
            <a:avLst/>
          </a:prstGeom>
          <a:noFill/>
          <a:ln w="25400">
            <a:solidFill>
              <a:srgbClr val="E8A33D"/>
            </a:solidFill>
            <a:prstDash val="solid"/>
          </a:ln>
        </p:spPr>
      </p:sp>
      <p:sp>
        <p:nvSpPr>
          <p:cNvPr id="8" name="Text 6"/>
          <p:cNvSpPr txBox="1"/>
          <p:nvPr/>
        </p:nvSpPr>
        <p:spPr>
          <a:xfrm>
            <a:off x="822960" y="5532120"/>
            <a:ext cx="7315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Jose Nelson González</a:t>
            </a:r>
            <a:endParaRPr lang="en-US" sz="1400" dirty="0"/>
          </a:p>
        </p:txBody>
      </p:sp>
      <p:sp>
        <p:nvSpPr>
          <p:cNvPr id="9" name="Text 7"/>
          <p:cNvSpPr txBox="1"/>
          <p:nvPr/>
        </p:nvSpPr>
        <p:spPr>
          <a:xfrm>
            <a:off x="822960" y="5897880"/>
            <a:ext cx="731520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Sustentación técnica y ejecutiva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85800"/>
            <a:ext cx="11064240" cy="82296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Agenda</a:t>
            </a:r>
            <a:endParaRPr lang="en-US" sz="3000" dirty="0"/>
          </a:p>
        </p:txBody>
      </p:sp>
      <p:sp>
        <p:nvSpPr>
          <p:cNvPr id="3" name="Shape 1"/>
          <p:cNvSpPr/>
          <p:nvPr/>
        </p:nvSpPr>
        <p:spPr>
          <a:xfrm>
            <a:off x="640080" y="1874520"/>
            <a:ext cx="603504" cy="603504"/>
          </a:xfrm>
          <a:prstGeom prst="ellipse">
            <a:avLst/>
          </a:prstGeom>
          <a:solidFill>
            <a:srgbClr val="1E2761"/>
          </a:solidFill>
          <a:ln/>
        </p:spPr>
      </p:sp>
      <p:pic>
        <p:nvPicPr>
          <p:cNvPr id="4" name="Image 0" descr="preencoded.png">    </p:cNvPr>
          <p:cNvPicPr>
            <a:picLocks noChangeAspect="1"/>
          </p:cNvPicPr>
          <p:nvPr/>
        </p:nvPicPr>
        <p:blipFill>
          <a:blip r:embed="rId1"/>
          <a:stretch>
            <a:fillRect/>
          </a:stretch>
        </p:blipFill>
        <p:spPr>
          <a:xfrm>
            <a:off x="718536" y="1952976"/>
            <a:ext cx="446593" cy="446593"/>
          </a:xfrm>
          <a:prstGeom prst="rect">
            <a:avLst/>
          </a:prstGeom>
        </p:spPr>
      </p:pic>
      <p:sp>
        <p:nvSpPr>
          <p:cNvPr id="5" name="Text 2"/>
          <p:cNvSpPr txBox="1"/>
          <p:nvPr/>
        </p:nvSpPr>
        <p:spPr>
          <a:xfrm>
            <a:off x="1463040" y="1847088"/>
            <a:ext cx="694944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Contexto y objetivo</a:t>
            </a:r>
            <a:endParaRPr lang="en-US" sz="1700" dirty="0"/>
          </a:p>
        </p:txBody>
      </p:sp>
      <p:sp>
        <p:nvSpPr>
          <p:cNvPr id="6" name="Text 3"/>
          <p:cNvSpPr txBox="1"/>
          <p:nvPr/>
        </p:nvSpPr>
        <p:spPr>
          <a:xfrm>
            <a:off x="1463040" y="2203704"/>
            <a:ext cx="8138160" cy="320040"/>
          </a:xfrm>
          <a:prstGeom prst="rect">
            <a:avLst/>
          </a:prstGeom>
          <a:noFill/>
          <a:ln/>
        </p:spPr>
        <p:txBody>
          <a:bodyPr wrap="square" lIns="0" tIns="0" rIns="0" bIns="0" rtlCol="0" anchor="ctr"/>
          <a:lstStyle/>
          <a:p>
            <a:pPr indent="0" marL="0">
              <a:buNone/>
            </a:pPr>
            <a:r>
              <a:rPr lang="en-US" sz="1150" i="1" dirty="0">
                <a:solidFill>
                  <a:srgbClr val="5B6B8C"/>
                </a:solidFill>
                <a:latin typeface="Calibri" pitchFamily="34" charset="0"/>
                <a:ea typeface="Calibri" pitchFamily="34" charset="-122"/>
                <a:cs typeface="Calibri" pitchFamily="34" charset="-120"/>
              </a:rPr>
              <a:t>Por qué anticipar la aceptación de opciones de pago</a:t>
            </a:r>
            <a:endParaRPr lang="en-US" sz="1150" dirty="0"/>
          </a:p>
        </p:txBody>
      </p:sp>
      <p:sp>
        <p:nvSpPr>
          <p:cNvPr id="7" name="Text 4"/>
          <p:cNvSpPr txBox="1"/>
          <p:nvPr/>
        </p:nvSpPr>
        <p:spPr>
          <a:xfrm>
            <a:off x="9966960" y="1965960"/>
            <a:ext cx="1554480" cy="365760"/>
          </a:xfrm>
          <a:prstGeom prst="rect">
            <a:avLst/>
          </a:prstGeom>
          <a:noFill/>
          <a:ln/>
        </p:spPr>
        <p:txBody>
          <a:bodyPr wrap="square" lIns="0" tIns="0" rIns="0" bIns="0" rtlCol="0" anchor="ctr"/>
          <a:lstStyle/>
          <a:p>
            <a:pPr algn="r" indent="0" marL="0">
              <a:buNone/>
            </a:pPr>
            <a:r>
              <a:rPr lang="en-US" sz="1400" b="1" dirty="0">
                <a:solidFill>
                  <a:srgbClr val="1E2761"/>
                </a:solidFill>
                <a:latin typeface="Calibri" pitchFamily="34" charset="0"/>
                <a:ea typeface="Calibri" pitchFamily="34" charset="-122"/>
                <a:cs typeface="Calibri" pitchFamily="34" charset="-120"/>
              </a:rPr>
              <a:t>1 min</a:t>
            </a:r>
            <a:endParaRPr lang="en-US" sz="1400" dirty="0"/>
          </a:p>
        </p:txBody>
      </p:sp>
      <p:sp>
        <p:nvSpPr>
          <p:cNvPr id="8" name="Shape 5"/>
          <p:cNvSpPr/>
          <p:nvPr/>
        </p:nvSpPr>
        <p:spPr>
          <a:xfrm>
            <a:off x="640080" y="2642616"/>
            <a:ext cx="10881360" cy="0"/>
          </a:xfrm>
          <a:prstGeom prst="line">
            <a:avLst/>
          </a:prstGeom>
          <a:noFill/>
          <a:ln w="12700">
            <a:solidFill>
              <a:srgbClr val="CADCFC"/>
            </a:solidFill>
            <a:prstDash val="solid"/>
          </a:ln>
        </p:spPr>
      </p:sp>
      <p:sp>
        <p:nvSpPr>
          <p:cNvPr id="9" name="Shape 6"/>
          <p:cNvSpPr/>
          <p:nvPr/>
        </p:nvSpPr>
        <p:spPr>
          <a:xfrm>
            <a:off x="640080" y="2715768"/>
            <a:ext cx="603504" cy="603504"/>
          </a:xfrm>
          <a:prstGeom prst="ellipse">
            <a:avLst/>
          </a:prstGeom>
          <a:solidFill>
            <a:srgbClr val="1E2761"/>
          </a:solidFill>
          <a:ln/>
        </p:spPr>
      </p:sp>
      <p:pic>
        <p:nvPicPr>
          <p:cNvPr id="10" name="Image 1" descr="preencoded.png">    </p:cNvPr>
          <p:cNvPicPr>
            <a:picLocks noChangeAspect="1"/>
          </p:cNvPicPr>
          <p:nvPr/>
        </p:nvPicPr>
        <p:blipFill>
          <a:blip r:embed="rId2"/>
          <a:stretch>
            <a:fillRect/>
          </a:stretch>
        </p:blipFill>
        <p:spPr>
          <a:xfrm>
            <a:off x="718536" y="2794224"/>
            <a:ext cx="446593" cy="446593"/>
          </a:xfrm>
          <a:prstGeom prst="rect">
            <a:avLst/>
          </a:prstGeom>
        </p:spPr>
      </p:pic>
      <p:sp>
        <p:nvSpPr>
          <p:cNvPr id="11" name="Text 7"/>
          <p:cNvSpPr txBox="1"/>
          <p:nvPr/>
        </p:nvSpPr>
        <p:spPr>
          <a:xfrm>
            <a:off x="1463040" y="2688336"/>
            <a:ext cx="694944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Parte 1 — Modelo de propensión</a:t>
            </a:r>
            <a:endParaRPr lang="en-US" sz="1700" dirty="0"/>
          </a:p>
        </p:txBody>
      </p:sp>
      <p:sp>
        <p:nvSpPr>
          <p:cNvPr id="12" name="Text 8"/>
          <p:cNvSpPr txBox="1"/>
          <p:nvPr/>
        </p:nvSpPr>
        <p:spPr>
          <a:xfrm>
            <a:off x="1463040" y="3044952"/>
            <a:ext cx="8138160" cy="320040"/>
          </a:xfrm>
          <a:prstGeom prst="rect">
            <a:avLst/>
          </a:prstGeom>
          <a:noFill/>
          <a:ln/>
        </p:spPr>
        <p:txBody>
          <a:bodyPr wrap="square" lIns="0" tIns="0" rIns="0" bIns="0" rtlCol="0" anchor="ctr"/>
          <a:lstStyle/>
          <a:p>
            <a:pPr indent="0" marL="0">
              <a:buNone/>
            </a:pPr>
            <a:r>
              <a:rPr lang="en-US" sz="1150" i="1" dirty="0">
                <a:solidFill>
                  <a:srgbClr val="5B6B8C"/>
                </a:solidFill>
                <a:latin typeface="Calibri" pitchFamily="34" charset="0"/>
                <a:ea typeface="Calibri" pitchFamily="34" charset="-122"/>
                <a:cs typeface="Calibri" pitchFamily="34" charset="-120"/>
              </a:rPr>
              <a:t>Metodología, comparación de modelos y resultado</a:t>
            </a:r>
            <a:endParaRPr lang="en-US" sz="1150" dirty="0"/>
          </a:p>
        </p:txBody>
      </p:sp>
      <p:sp>
        <p:nvSpPr>
          <p:cNvPr id="13" name="Text 9"/>
          <p:cNvSpPr txBox="1"/>
          <p:nvPr/>
        </p:nvSpPr>
        <p:spPr>
          <a:xfrm>
            <a:off x="9966960" y="2807208"/>
            <a:ext cx="1554480" cy="365760"/>
          </a:xfrm>
          <a:prstGeom prst="rect">
            <a:avLst/>
          </a:prstGeom>
          <a:noFill/>
          <a:ln/>
        </p:spPr>
        <p:txBody>
          <a:bodyPr wrap="square" lIns="0" tIns="0" rIns="0" bIns="0" rtlCol="0" anchor="ctr"/>
          <a:lstStyle/>
          <a:p>
            <a:pPr algn="r" indent="0" marL="0">
              <a:buNone/>
            </a:pPr>
            <a:r>
              <a:rPr lang="en-US" sz="1400" b="1" dirty="0">
                <a:solidFill>
                  <a:srgbClr val="1E2761"/>
                </a:solidFill>
                <a:latin typeface="Calibri" pitchFamily="34" charset="0"/>
                <a:ea typeface="Calibri" pitchFamily="34" charset="-122"/>
                <a:cs typeface="Calibri" pitchFamily="34" charset="-120"/>
              </a:rPr>
              <a:t>3 min</a:t>
            </a:r>
            <a:endParaRPr lang="en-US" sz="1400" dirty="0"/>
          </a:p>
        </p:txBody>
      </p:sp>
      <p:sp>
        <p:nvSpPr>
          <p:cNvPr id="14" name="Shape 10"/>
          <p:cNvSpPr/>
          <p:nvPr/>
        </p:nvSpPr>
        <p:spPr>
          <a:xfrm>
            <a:off x="640080" y="3483864"/>
            <a:ext cx="10881360" cy="0"/>
          </a:xfrm>
          <a:prstGeom prst="line">
            <a:avLst/>
          </a:prstGeom>
          <a:noFill/>
          <a:ln w="12700">
            <a:solidFill>
              <a:srgbClr val="CADCFC"/>
            </a:solidFill>
            <a:prstDash val="solid"/>
          </a:ln>
        </p:spPr>
      </p:sp>
      <p:sp>
        <p:nvSpPr>
          <p:cNvPr id="15" name="Shape 11"/>
          <p:cNvSpPr/>
          <p:nvPr/>
        </p:nvSpPr>
        <p:spPr>
          <a:xfrm>
            <a:off x="640080" y="3557016"/>
            <a:ext cx="603504" cy="603504"/>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718536" y="3635472"/>
            <a:ext cx="446593" cy="446593"/>
          </a:xfrm>
          <a:prstGeom prst="rect">
            <a:avLst/>
          </a:prstGeom>
        </p:spPr>
      </p:pic>
      <p:sp>
        <p:nvSpPr>
          <p:cNvPr id="17" name="Text 12"/>
          <p:cNvSpPr txBox="1"/>
          <p:nvPr/>
        </p:nvSpPr>
        <p:spPr>
          <a:xfrm>
            <a:off x="1463040" y="3529584"/>
            <a:ext cx="694944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Parte 2 — Sistema agéntico</a:t>
            </a:r>
            <a:endParaRPr lang="en-US" sz="1700" dirty="0"/>
          </a:p>
        </p:txBody>
      </p:sp>
      <p:sp>
        <p:nvSpPr>
          <p:cNvPr id="18" name="Text 13"/>
          <p:cNvSpPr txBox="1"/>
          <p:nvPr/>
        </p:nvSpPr>
        <p:spPr>
          <a:xfrm>
            <a:off x="1463040" y="3886200"/>
            <a:ext cx="8138160" cy="320040"/>
          </a:xfrm>
          <a:prstGeom prst="rect">
            <a:avLst/>
          </a:prstGeom>
          <a:noFill/>
          <a:ln/>
        </p:spPr>
        <p:txBody>
          <a:bodyPr wrap="square" lIns="0" tIns="0" rIns="0" bIns="0" rtlCol="0" anchor="ctr"/>
          <a:lstStyle/>
          <a:p>
            <a:pPr indent="0" marL="0">
              <a:buNone/>
            </a:pPr>
            <a:r>
              <a:rPr lang="en-US" sz="1150" i="1" dirty="0">
                <a:solidFill>
                  <a:srgbClr val="5B6B8C"/>
                </a:solidFill>
                <a:latin typeface="Calibri" pitchFamily="34" charset="0"/>
                <a:ea typeface="Calibri" pitchFamily="34" charset="-122"/>
                <a:cs typeface="Calibri" pitchFamily="34" charset="-120"/>
              </a:rPr>
              <a:t>Arquitectura, reglas de negocio y pruebas</a:t>
            </a:r>
            <a:endParaRPr lang="en-US" sz="1150" dirty="0"/>
          </a:p>
        </p:txBody>
      </p:sp>
      <p:sp>
        <p:nvSpPr>
          <p:cNvPr id="19" name="Text 14"/>
          <p:cNvSpPr txBox="1"/>
          <p:nvPr/>
        </p:nvSpPr>
        <p:spPr>
          <a:xfrm>
            <a:off x="9966960" y="3648456"/>
            <a:ext cx="1554480" cy="365760"/>
          </a:xfrm>
          <a:prstGeom prst="rect">
            <a:avLst/>
          </a:prstGeom>
          <a:noFill/>
          <a:ln/>
        </p:spPr>
        <p:txBody>
          <a:bodyPr wrap="square" lIns="0" tIns="0" rIns="0" bIns="0" rtlCol="0" anchor="ctr"/>
          <a:lstStyle/>
          <a:p>
            <a:pPr algn="r" indent="0" marL="0">
              <a:buNone/>
            </a:pPr>
            <a:r>
              <a:rPr lang="en-US" sz="1400" b="1" dirty="0">
                <a:solidFill>
                  <a:srgbClr val="1E2761"/>
                </a:solidFill>
                <a:latin typeface="Calibri" pitchFamily="34" charset="0"/>
                <a:ea typeface="Calibri" pitchFamily="34" charset="-122"/>
                <a:cs typeface="Calibri" pitchFamily="34" charset="-120"/>
              </a:rPr>
              <a:t>4 min</a:t>
            </a:r>
            <a:endParaRPr lang="en-US" sz="1400" dirty="0"/>
          </a:p>
        </p:txBody>
      </p:sp>
      <p:sp>
        <p:nvSpPr>
          <p:cNvPr id="20" name="Shape 15"/>
          <p:cNvSpPr/>
          <p:nvPr/>
        </p:nvSpPr>
        <p:spPr>
          <a:xfrm>
            <a:off x="640080" y="4325112"/>
            <a:ext cx="10881360" cy="0"/>
          </a:xfrm>
          <a:prstGeom prst="line">
            <a:avLst/>
          </a:prstGeom>
          <a:noFill/>
          <a:ln w="12700">
            <a:solidFill>
              <a:srgbClr val="CADCFC"/>
            </a:solidFill>
            <a:prstDash val="solid"/>
          </a:ln>
        </p:spPr>
      </p:sp>
      <p:sp>
        <p:nvSpPr>
          <p:cNvPr id="21" name="Shape 16"/>
          <p:cNvSpPr/>
          <p:nvPr/>
        </p:nvSpPr>
        <p:spPr>
          <a:xfrm>
            <a:off x="640080" y="4398264"/>
            <a:ext cx="603504" cy="603504"/>
          </a:xfrm>
          <a:prstGeom prst="ellipse">
            <a:avLst/>
          </a:prstGeom>
          <a:solidFill>
            <a:srgbClr val="1E2761"/>
          </a:solidFill>
          <a:ln/>
        </p:spPr>
      </p:sp>
      <p:pic>
        <p:nvPicPr>
          <p:cNvPr id="22" name="Image 3" descr="preencoded.png">    </p:cNvPr>
          <p:cNvPicPr>
            <a:picLocks noChangeAspect="1"/>
          </p:cNvPicPr>
          <p:nvPr/>
        </p:nvPicPr>
        <p:blipFill>
          <a:blip r:embed="rId4"/>
          <a:stretch>
            <a:fillRect/>
          </a:stretch>
        </p:blipFill>
        <p:spPr>
          <a:xfrm>
            <a:off x="718536" y="4476720"/>
            <a:ext cx="446593" cy="446593"/>
          </a:xfrm>
          <a:prstGeom prst="rect">
            <a:avLst/>
          </a:prstGeom>
        </p:spPr>
      </p:pic>
      <p:sp>
        <p:nvSpPr>
          <p:cNvPr id="23" name="Text 17"/>
          <p:cNvSpPr txBox="1"/>
          <p:nvPr/>
        </p:nvSpPr>
        <p:spPr>
          <a:xfrm>
            <a:off x="1463040" y="4370832"/>
            <a:ext cx="694944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Producción y monitoreo</a:t>
            </a:r>
            <a:endParaRPr lang="en-US" sz="1700" dirty="0"/>
          </a:p>
        </p:txBody>
      </p:sp>
      <p:sp>
        <p:nvSpPr>
          <p:cNvPr id="24" name="Text 18"/>
          <p:cNvSpPr txBox="1"/>
          <p:nvPr/>
        </p:nvSpPr>
        <p:spPr>
          <a:xfrm>
            <a:off x="1463040" y="4727448"/>
            <a:ext cx="8138160" cy="320040"/>
          </a:xfrm>
          <a:prstGeom prst="rect">
            <a:avLst/>
          </a:prstGeom>
          <a:noFill/>
          <a:ln/>
        </p:spPr>
        <p:txBody>
          <a:bodyPr wrap="square" lIns="0" tIns="0" rIns="0" bIns="0" rtlCol="0" anchor="ctr"/>
          <a:lstStyle/>
          <a:p>
            <a:pPr indent="0" marL="0">
              <a:buNone/>
            </a:pPr>
            <a:r>
              <a:rPr lang="en-US" sz="1150" i="1" dirty="0">
                <a:solidFill>
                  <a:srgbClr val="5B6B8C"/>
                </a:solidFill>
                <a:latin typeface="Calibri" pitchFamily="34" charset="0"/>
                <a:ea typeface="Calibri" pitchFamily="34" charset="-122"/>
                <a:cs typeface="Calibri" pitchFamily="34" charset="-120"/>
              </a:rPr>
              <a:t>Arquitectura de operación y qué se mide para detectar problemas a tiempo</a:t>
            </a:r>
            <a:endParaRPr lang="en-US" sz="1150" dirty="0"/>
          </a:p>
        </p:txBody>
      </p:sp>
      <p:sp>
        <p:nvSpPr>
          <p:cNvPr id="25" name="Text 19"/>
          <p:cNvSpPr txBox="1"/>
          <p:nvPr/>
        </p:nvSpPr>
        <p:spPr>
          <a:xfrm>
            <a:off x="9966960" y="4489704"/>
            <a:ext cx="1554480" cy="365760"/>
          </a:xfrm>
          <a:prstGeom prst="rect">
            <a:avLst/>
          </a:prstGeom>
          <a:noFill/>
          <a:ln/>
        </p:spPr>
        <p:txBody>
          <a:bodyPr wrap="square" lIns="0" tIns="0" rIns="0" bIns="0" rtlCol="0" anchor="ctr"/>
          <a:lstStyle/>
          <a:p>
            <a:pPr algn="r" indent="0" marL="0">
              <a:buNone/>
            </a:pPr>
            <a:r>
              <a:rPr lang="en-US" sz="1400" b="1" dirty="0">
                <a:solidFill>
                  <a:srgbClr val="1E2761"/>
                </a:solidFill>
                <a:latin typeface="Calibri" pitchFamily="34" charset="0"/>
                <a:ea typeface="Calibri" pitchFamily="34" charset="-122"/>
                <a:cs typeface="Calibri" pitchFamily="34" charset="-120"/>
              </a:rPr>
              <a:t>2 min</a:t>
            </a:r>
            <a:endParaRPr lang="en-US" sz="1400" dirty="0"/>
          </a:p>
        </p:txBody>
      </p:sp>
      <p:sp>
        <p:nvSpPr>
          <p:cNvPr id="26" name="Shape 20"/>
          <p:cNvSpPr/>
          <p:nvPr/>
        </p:nvSpPr>
        <p:spPr>
          <a:xfrm>
            <a:off x="640080" y="5166360"/>
            <a:ext cx="10881360" cy="0"/>
          </a:xfrm>
          <a:prstGeom prst="line">
            <a:avLst/>
          </a:prstGeom>
          <a:noFill/>
          <a:ln w="12700">
            <a:solidFill>
              <a:srgbClr val="CADCFC"/>
            </a:solidFill>
            <a:prstDash val="solid"/>
          </a:ln>
        </p:spPr>
      </p:sp>
      <p:sp>
        <p:nvSpPr>
          <p:cNvPr id="27" name="Shape 21"/>
          <p:cNvSpPr/>
          <p:nvPr/>
        </p:nvSpPr>
        <p:spPr>
          <a:xfrm>
            <a:off x="640080" y="5239512"/>
            <a:ext cx="603504" cy="603504"/>
          </a:xfrm>
          <a:prstGeom prst="ellipse">
            <a:avLst/>
          </a:prstGeom>
          <a:solidFill>
            <a:srgbClr val="E8A33D"/>
          </a:solidFill>
          <a:ln/>
        </p:spPr>
      </p:sp>
      <p:pic>
        <p:nvPicPr>
          <p:cNvPr id="28" name="Image 4" descr="preencoded.png">    </p:cNvPr>
          <p:cNvPicPr>
            <a:picLocks noChangeAspect="1"/>
          </p:cNvPicPr>
          <p:nvPr/>
        </p:nvPicPr>
        <p:blipFill>
          <a:blip r:embed="rId5"/>
          <a:stretch>
            <a:fillRect/>
          </a:stretch>
        </p:blipFill>
        <p:spPr>
          <a:xfrm>
            <a:off x="718536" y="5317968"/>
            <a:ext cx="446593" cy="446593"/>
          </a:xfrm>
          <a:prstGeom prst="rect">
            <a:avLst/>
          </a:prstGeom>
        </p:spPr>
      </p:pic>
      <p:sp>
        <p:nvSpPr>
          <p:cNvPr id="29" name="Text 22"/>
          <p:cNvSpPr txBox="1"/>
          <p:nvPr/>
        </p:nvSpPr>
        <p:spPr>
          <a:xfrm>
            <a:off x="1463040" y="5212080"/>
            <a:ext cx="694944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Resumen ejecutivo</a:t>
            </a:r>
            <a:endParaRPr lang="en-US" sz="1700" dirty="0"/>
          </a:p>
        </p:txBody>
      </p:sp>
      <p:sp>
        <p:nvSpPr>
          <p:cNvPr id="30" name="Text 23"/>
          <p:cNvSpPr txBox="1"/>
          <p:nvPr/>
        </p:nvSpPr>
        <p:spPr>
          <a:xfrm>
            <a:off x="1463040" y="5568696"/>
            <a:ext cx="8138160" cy="320040"/>
          </a:xfrm>
          <a:prstGeom prst="rect">
            <a:avLst/>
          </a:prstGeom>
          <a:noFill/>
          <a:ln/>
        </p:spPr>
        <p:txBody>
          <a:bodyPr wrap="square" lIns="0" tIns="0" rIns="0" bIns="0" rtlCol="0" anchor="ctr"/>
          <a:lstStyle/>
          <a:p>
            <a:pPr indent="0" marL="0">
              <a:buNone/>
            </a:pPr>
            <a:r>
              <a:rPr lang="en-US" sz="1150" i="1" dirty="0">
                <a:solidFill>
                  <a:srgbClr val="5B6B8C"/>
                </a:solidFill>
                <a:latin typeface="Calibri" pitchFamily="34" charset="0"/>
                <a:ea typeface="Calibri" pitchFamily="34" charset="-122"/>
                <a:cs typeface="Calibri" pitchFamily="34" charset="-120"/>
              </a:rPr>
              <a:t>Resultado de negocio, alcance, riesgos y pedido de aprobación</a:t>
            </a:r>
            <a:endParaRPr lang="en-US" sz="1150" dirty="0"/>
          </a:p>
        </p:txBody>
      </p:sp>
      <p:sp>
        <p:nvSpPr>
          <p:cNvPr id="31" name="Text 24"/>
          <p:cNvSpPr txBox="1"/>
          <p:nvPr/>
        </p:nvSpPr>
        <p:spPr>
          <a:xfrm>
            <a:off x="9966960" y="5330952"/>
            <a:ext cx="1554480" cy="365760"/>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5 min</a:t>
            </a:r>
            <a:endParaRPr lang="en-US" sz="1400" dirty="0"/>
          </a:p>
        </p:txBody>
      </p:sp>
      <p:sp>
        <p:nvSpPr>
          <p:cNvPr id="32" name="Text 25"/>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82296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De priorizar por exposición a priorizar por propensión</a:t>
            </a:r>
            <a:endParaRPr lang="en-US" sz="3000" dirty="0"/>
          </a:p>
        </p:txBody>
      </p:sp>
      <p:sp>
        <p:nvSpPr>
          <p:cNvPr id="3" name="Shape 1"/>
          <p:cNvSpPr/>
          <p:nvPr/>
        </p:nvSpPr>
        <p:spPr>
          <a:xfrm>
            <a:off x="548640" y="1965960"/>
            <a:ext cx="5394960" cy="3977640"/>
          </a:xfrm>
          <a:prstGeom prst="roundRect">
            <a:avLst>
              <a:gd name="adj" fmla="val 2759"/>
            </a:avLst>
          </a:prstGeom>
          <a:solidFill>
            <a:srgbClr val="EEF2FB"/>
          </a:solidFill>
          <a:ln/>
        </p:spPr>
      </p:sp>
      <p:sp>
        <p:nvSpPr>
          <p:cNvPr id="4" name="Text 2"/>
          <p:cNvSpPr txBox="1"/>
          <p:nvPr/>
        </p:nvSpPr>
        <p:spPr>
          <a:xfrm>
            <a:off x="868680" y="2194560"/>
            <a:ext cx="4572000" cy="365760"/>
          </a:xfrm>
          <a:prstGeom prst="rect">
            <a:avLst/>
          </a:prstGeom>
          <a:noFill/>
          <a:ln/>
        </p:spPr>
        <p:txBody>
          <a:bodyPr wrap="square" lIns="0" tIns="0" rIns="0" bIns="0" rtlCol="0" anchor="ctr"/>
          <a:lstStyle/>
          <a:p>
            <a:pPr indent="0" marL="0">
              <a:buNone/>
            </a:pPr>
            <a:r>
              <a:rPr lang="en-US" sz="1600" b="1" dirty="0">
                <a:solidFill>
                  <a:srgbClr val="5B6B8C"/>
                </a:solidFill>
                <a:latin typeface="Cambria" pitchFamily="34" charset="0"/>
                <a:ea typeface="Cambria" pitchFamily="34" charset="-122"/>
                <a:cs typeface="Cambria" pitchFamily="34" charset="-120"/>
              </a:rPr>
              <a:t>Hoy</a:t>
            </a:r>
            <a:endParaRPr lang="en-US" sz="1600" dirty="0"/>
          </a:p>
        </p:txBody>
      </p:sp>
      <p:sp>
        <p:nvSpPr>
          <p:cNvPr id="5" name="Text 3"/>
          <p:cNvSpPr txBox="1"/>
          <p:nvPr/>
        </p:nvSpPr>
        <p:spPr>
          <a:xfrm>
            <a:off x="868680" y="2606040"/>
            <a:ext cx="4754880" cy="2926080"/>
          </a:xfrm>
          <a:prstGeom prst="rect">
            <a:avLst/>
          </a:prstGeom>
          <a:noFill/>
          <a:ln/>
        </p:spPr>
        <p:txBody>
          <a:bodyPr wrap="square" lIns="0" tIns="0" rIns="0" bIns="0" rtlCol="0" anchor="t"/>
          <a:lstStyle/>
          <a:p>
            <a:pPr indent="0" marL="0">
              <a:lnSpc>
                <a:spcPct val="125000"/>
              </a:lnSpc>
              <a:buNone/>
            </a:pPr>
            <a:r>
              <a:rPr lang="en-US" sz="1400" dirty="0">
                <a:solidFill>
                  <a:srgbClr val="1E2761"/>
                </a:solidFill>
                <a:latin typeface="Calibri" pitchFamily="34" charset="0"/>
                <a:ea typeface="Calibri" pitchFamily="34" charset="-122"/>
                <a:cs typeface="Calibri" pitchFamily="34" charset="-120"/>
              </a:rPr>
              <a:t>La cartera en mora se gestiona priorizando principalmente por monto de exposición. Las opciones de pago y los acuerdos son las palancas disponibles, pero se ofrecen sin saber de antemano qué tan receptivo será cada cliente.</a:t>
            </a:r>
            <a:endParaRPr lang="en-US" sz="1400" dirty="0"/>
          </a:p>
        </p:txBody>
      </p:sp>
      <p:sp>
        <p:nvSpPr>
          <p:cNvPr id="6" name="Shape 4"/>
          <p:cNvSpPr/>
          <p:nvPr/>
        </p:nvSpPr>
        <p:spPr>
          <a:xfrm>
            <a:off x="6245352" y="1965960"/>
            <a:ext cx="5394960" cy="3977640"/>
          </a:xfrm>
          <a:prstGeom prst="roundRect">
            <a:avLst>
              <a:gd name="adj" fmla="val 2759"/>
            </a:avLst>
          </a:prstGeom>
          <a:solidFill>
            <a:srgbClr val="1E2761"/>
          </a:solidFill>
          <a:ln/>
        </p:spPr>
      </p:sp>
      <p:sp>
        <p:nvSpPr>
          <p:cNvPr id="7" name="Text 5"/>
          <p:cNvSpPr txBox="1"/>
          <p:nvPr/>
        </p:nvSpPr>
        <p:spPr>
          <a:xfrm>
            <a:off x="6565392" y="2194560"/>
            <a:ext cx="4572000" cy="365760"/>
          </a:xfrm>
          <a:prstGeom prst="rect">
            <a:avLst/>
          </a:prstGeom>
          <a:noFill/>
          <a:ln/>
        </p:spPr>
        <p:txBody>
          <a:bodyPr wrap="square" lIns="0" tIns="0" rIns="0" bIns="0" rtlCol="0" anchor="ctr"/>
          <a:lstStyle/>
          <a:p>
            <a:pPr indent="0" marL="0">
              <a:buNone/>
            </a:pPr>
            <a:r>
              <a:rPr lang="en-US" sz="1600" b="1" dirty="0">
                <a:solidFill>
                  <a:srgbClr val="E8A33D"/>
                </a:solidFill>
                <a:latin typeface="Cambria" pitchFamily="34" charset="0"/>
                <a:ea typeface="Cambria" pitchFamily="34" charset="-122"/>
                <a:cs typeface="Cambria" pitchFamily="34" charset="-120"/>
              </a:rPr>
              <a:t>Con este proyecto</a:t>
            </a:r>
            <a:endParaRPr lang="en-US" sz="1600" dirty="0"/>
          </a:p>
        </p:txBody>
      </p:sp>
      <p:sp>
        <p:nvSpPr>
          <p:cNvPr id="8" name="Text 6"/>
          <p:cNvSpPr txBox="1"/>
          <p:nvPr/>
        </p:nvSpPr>
        <p:spPr>
          <a:xfrm>
            <a:off x="6565392" y="2606040"/>
            <a:ext cx="4754880" cy="2926080"/>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alibri" pitchFamily="34" charset="0"/>
                <a:ea typeface="Calibri" pitchFamily="34" charset="-122"/>
                <a:cs typeface="Calibri" pitchFamily="34" charset="-120"/>
              </a:rPr>
              <a:t>Un modelo anticipa, con un mes de antelación, la probabilidad de que cada cliente acepte una opción de pago. Un sistema agéntico automatiza el ofrecimiento de esa opción, respetando siempre las reglas de negocio vigentes.</a:t>
            </a:r>
            <a:endParaRPr lang="en-US" sz="1400" dirty="0"/>
          </a:p>
        </p:txBody>
      </p:sp>
      <p:sp>
        <p:nvSpPr>
          <p:cNvPr id="9" name="Text 7"/>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82296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Datos, decisión sobre variables y ventanas temporales</a:t>
            </a:r>
            <a:endParaRPr lang="en-US" sz="2700" dirty="0"/>
          </a:p>
        </p:txBody>
      </p:sp>
      <p:sp>
        <p:nvSpPr>
          <p:cNvPr id="3" name="Shape 1"/>
          <p:cNvSpPr/>
          <p:nvPr/>
        </p:nvSpPr>
        <p:spPr>
          <a:xfrm>
            <a:off x="548640" y="1691640"/>
            <a:ext cx="6995160" cy="3488649"/>
          </a:xfrm>
          <a:prstGeom prst="roundRect">
            <a:avLst>
              <a:gd name="adj" fmla="val 2097"/>
            </a:avLst>
          </a:prstGeom>
          <a:solidFill>
            <a:srgbClr val="EEF2FB"/>
          </a:solidFill>
          <a:ln/>
        </p:spPr>
      </p:sp>
      <p:pic>
        <p:nvPicPr>
          <p:cNvPr id="4" name="Image 0" descr="/home/claude/prueba_bancolombia/notebooks/eda_outputs/02_embudo_variables.png">    </p:cNvPr>
          <p:cNvPicPr>
            <a:picLocks noChangeAspect="1"/>
          </p:cNvPicPr>
          <p:nvPr/>
        </p:nvPicPr>
        <p:blipFill>
          <a:blip r:embed="rId1"/>
          <a:stretch>
            <a:fillRect/>
          </a:stretch>
        </p:blipFill>
        <p:spPr>
          <a:xfrm>
            <a:off x="685800" y="1828800"/>
            <a:ext cx="6720840" cy="3214329"/>
          </a:xfrm>
          <a:prstGeom prst="rect">
            <a:avLst/>
          </a:prstGeom>
        </p:spPr>
      </p:pic>
      <p:sp>
        <p:nvSpPr>
          <p:cNvPr id="5" name="Text 2"/>
          <p:cNvSpPr txBox="1"/>
          <p:nvPr/>
        </p:nvSpPr>
        <p:spPr>
          <a:xfrm>
            <a:off x="548640" y="5363169"/>
            <a:ext cx="6995160" cy="914400"/>
          </a:xfrm>
          <a:prstGeom prst="rect">
            <a:avLst/>
          </a:prstGeom>
          <a:noFill/>
          <a:ln/>
        </p:spPr>
        <p:txBody>
          <a:bodyPr wrap="square" lIns="0" tIns="0" rIns="0" bIns="0" rtlCol="0" anchor="t"/>
          <a:lstStyle/>
          <a:p>
            <a:pPr indent="0" marL="0">
              <a:lnSpc>
                <a:spcPct val="120000"/>
              </a:lnSpc>
              <a:buNone/>
            </a:pPr>
            <a:r>
              <a:rPr lang="en-US" sz="1150" i="1" dirty="0">
                <a:solidFill>
                  <a:srgbClr val="5B6B8C"/>
                </a:solidFill>
                <a:latin typeface="Calibri" pitchFamily="34" charset="0"/>
                <a:ea typeface="Calibri" pitchFamily="34" charset="-122"/>
                <a:cs typeface="Calibri" pitchFamily="34" charset="-120"/>
              </a:rPr>
              <a:t>Se excluyen las columnas que describen el resultado del mismo mes (no disponibles en oot.csv) y se agregan lags propios, demografía, scores del banco e historial de pagos.</a:t>
            </a:r>
            <a:endParaRPr lang="en-US" sz="1150" dirty="0"/>
          </a:p>
        </p:txBody>
      </p:sp>
      <p:sp>
        <p:nvSpPr>
          <p:cNvPr id="6" name="Text 3"/>
          <p:cNvSpPr txBox="1"/>
          <p:nvPr/>
        </p:nvSpPr>
        <p:spPr>
          <a:xfrm>
            <a:off x="7818120" y="1691640"/>
            <a:ext cx="3822192"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Ventanas temporales</a:t>
            </a:r>
            <a:endParaRPr lang="en-US" sz="1600" dirty="0"/>
          </a:p>
        </p:txBody>
      </p:sp>
      <p:sp>
        <p:nvSpPr>
          <p:cNvPr id="7" name="Shape 4"/>
          <p:cNvSpPr/>
          <p:nvPr/>
        </p:nvSpPr>
        <p:spPr>
          <a:xfrm>
            <a:off x="7818120" y="2194560"/>
            <a:ext cx="512064" cy="512064"/>
          </a:xfrm>
          <a:prstGeom prst="ellipse">
            <a:avLst/>
          </a:prstGeom>
          <a:solidFill>
            <a:srgbClr val="EEF2FB"/>
          </a:solidFill>
          <a:ln/>
        </p:spPr>
      </p:sp>
      <p:pic>
        <p:nvPicPr>
          <p:cNvPr id="8" name="Image 1" descr="preencoded.png">    </p:cNvPr>
          <p:cNvPicPr>
            <a:picLocks noChangeAspect="1"/>
          </p:cNvPicPr>
          <p:nvPr/>
        </p:nvPicPr>
        <p:blipFill>
          <a:blip r:embed="rId2"/>
          <a:stretch>
            <a:fillRect/>
          </a:stretch>
        </p:blipFill>
        <p:spPr>
          <a:xfrm>
            <a:off x="7884688" y="2261128"/>
            <a:ext cx="378927" cy="378927"/>
          </a:xfrm>
          <a:prstGeom prst="rect">
            <a:avLst/>
          </a:prstGeom>
        </p:spPr>
      </p:pic>
      <p:sp>
        <p:nvSpPr>
          <p:cNvPr id="9" name="Text 5"/>
          <p:cNvSpPr txBox="1"/>
          <p:nvPr/>
        </p:nvSpPr>
        <p:spPr>
          <a:xfrm>
            <a:off x="8476488" y="2157984"/>
            <a:ext cx="3163824" cy="29260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Entrenamiento</a:t>
            </a:r>
            <a:endParaRPr lang="en-US" sz="1350" dirty="0"/>
          </a:p>
        </p:txBody>
      </p:sp>
      <p:sp>
        <p:nvSpPr>
          <p:cNvPr id="10" name="Text 6"/>
          <p:cNvSpPr txBox="1"/>
          <p:nvPr/>
        </p:nvSpPr>
        <p:spPr>
          <a:xfrm>
            <a:off x="8476488" y="2441448"/>
            <a:ext cx="3163824" cy="274320"/>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Ago 2023 – Nov 2023</a:t>
            </a:r>
            <a:endParaRPr lang="en-US" sz="1300" dirty="0"/>
          </a:p>
        </p:txBody>
      </p:sp>
      <p:sp>
        <p:nvSpPr>
          <p:cNvPr id="11" name="Text 7"/>
          <p:cNvSpPr txBox="1"/>
          <p:nvPr/>
        </p:nvSpPr>
        <p:spPr>
          <a:xfrm>
            <a:off x="8476488" y="2715768"/>
            <a:ext cx="3163824" cy="27432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4 meses de historia</a:t>
            </a:r>
            <a:endParaRPr lang="en-US" sz="1050" dirty="0"/>
          </a:p>
        </p:txBody>
      </p:sp>
      <p:sp>
        <p:nvSpPr>
          <p:cNvPr id="12" name="Shape 8"/>
          <p:cNvSpPr/>
          <p:nvPr/>
        </p:nvSpPr>
        <p:spPr>
          <a:xfrm>
            <a:off x="7818120" y="3127248"/>
            <a:ext cx="512064" cy="512064"/>
          </a:xfrm>
          <a:prstGeom prst="ellipse">
            <a:avLst/>
          </a:prstGeom>
          <a:solidFill>
            <a:srgbClr val="EEF2FB"/>
          </a:solidFill>
          <a:ln/>
        </p:spPr>
      </p:sp>
      <p:pic>
        <p:nvPicPr>
          <p:cNvPr id="13" name="Image 2" descr="preencoded.png">    </p:cNvPr>
          <p:cNvPicPr>
            <a:picLocks noChangeAspect="1"/>
          </p:cNvPicPr>
          <p:nvPr/>
        </p:nvPicPr>
        <p:blipFill>
          <a:blip r:embed="rId3"/>
          <a:stretch>
            <a:fillRect/>
          </a:stretch>
        </p:blipFill>
        <p:spPr>
          <a:xfrm>
            <a:off x="7884688" y="3193816"/>
            <a:ext cx="378927" cy="378927"/>
          </a:xfrm>
          <a:prstGeom prst="rect">
            <a:avLst/>
          </a:prstGeom>
        </p:spPr>
      </p:pic>
      <p:sp>
        <p:nvSpPr>
          <p:cNvPr id="14" name="Text 9"/>
          <p:cNvSpPr txBox="1"/>
          <p:nvPr/>
        </p:nvSpPr>
        <p:spPr>
          <a:xfrm>
            <a:off x="8476488" y="3090672"/>
            <a:ext cx="3163824" cy="29260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Validación</a:t>
            </a:r>
            <a:endParaRPr lang="en-US" sz="1350" dirty="0"/>
          </a:p>
        </p:txBody>
      </p:sp>
      <p:sp>
        <p:nvSpPr>
          <p:cNvPr id="15" name="Text 10"/>
          <p:cNvSpPr txBox="1"/>
          <p:nvPr/>
        </p:nvSpPr>
        <p:spPr>
          <a:xfrm>
            <a:off x="8476488" y="3374136"/>
            <a:ext cx="3163824" cy="274320"/>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Dic 2023</a:t>
            </a:r>
            <a:endParaRPr lang="en-US" sz="1300" dirty="0"/>
          </a:p>
        </p:txBody>
      </p:sp>
      <p:sp>
        <p:nvSpPr>
          <p:cNvPr id="16" name="Text 11"/>
          <p:cNvSpPr txBox="1"/>
          <p:nvPr/>
        </p:nvSpPr>
        <p:spPr>
          <a:xfrm>
            <a:off x="8476488" y="3648456"/>
            <a:ext cx="3163824" cy="27432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Elección de umbral (F1)</a:t>
            </a:r>
            <a:endParaRPr lang="en-US" sz="1050" dirty="0"/>
          </a:p>
        </p:txBody>
      </p:sp>
      <p:sp>
        <p:nvSpPr>
          <p:cNvPr id="17" name="Shape 12"/>
          <p:cNvSpPr/>
          <p:nvPr/>
        </p:nvSpPr>
        <p:spPr>
          <a:xfrm>
            <a:off x="7818120" y="4059936"/>
            <a:ext cx="512064" cy="512064"/>
          </a:xfrm>
          <a:prstGeom prst="ellipse">
            <a:avLst/>
          </a:prstGeom>
          <a:solidFill>
            <a:srgbClr val="EEF2FB"/>
          </a:solidFill>
          <a:ln/>
        </p:spPr>
      </p:sp>
      <p:pic>
        <p:nvPicPr>
          <p:cNvPr id="18" name="Image 3" descr="preencoded.png">    </p:cNvPr>
          <p:cNvPicPr>
            <a:picLocks noChangeAspect="1"/>
          </p:cNvPicPr>
          <p:nvPr/>
        </p:nvPicPr>
        <p:blipFill>
          <a:blip r:embed="rId4"/>
          <a:stretch>
            <a:fillRect/>
          </a:stretch>
        </p:blipFill>
        <p:spPr>
          <a:xfrm>
            <a:off x="7884688" y="4126504"/>
            <a:ext cx="378927" cy="378927"/>
          </a:xfrm>
          <a:prstGeom prst="rect">
            <a:avLst/>
          </a:prstGeom>
        </p:spPr>
      </p:pic>
      <p:sp>
        <p:nvSpPr>
          <p:cNvPr id="19" name="Text 13"/>
          <p:cNvSpPr txBox="1"/>
          <p:nvPr/>
        </p:nvSpPr>
        <p:spPr>
          <a:xfrm>
            <a:off x="8476488" y="4023360"/>
            <a:ext cx="3163824" cy="29260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OOT — la que se evalúa</a:t>
            </a:r>
            <a:endParaRPr lang="en-US" sz="1350" dirty="0"/>
          </a:p>
        </p:txBody>
      </p:sp>
      <p:sp>
        <p:nvSpPr>
          <p:cNvPr id="20" name="Text 14"/>
          <p:cNvSpPr txBox="1"/>
          <p:nvPr/>
        </p:nvSpPr>
        <p:spPr>
          <a:xfrm>
            <a:off x="8476488" y="4306824"/>
            <a:ext cx="3163824" cy="274320"/>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Ene 2024</a:t>
            </a:r>
            <a:endParaRPr lang="en-US" sz="1300" dirty="0"/>
          </a:p>
        </p:txBody>
      </p:sp>
      <p:sp>
        <p:nvSpPr>
          <p:cNvPr id="21" name="Text 15"/>
          <p:cNvSpPr txBox="1"/>
          <p:nvPr/>
        </p:nvSpPr>
        <p:spPr>
          <a:xfrm>
            <a:off x="8476488" y="4581144"/>
            <a:ext cx="3163824" cy="27432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oot.csv entregado, solo IDs</a:t>
            </a:r>
            <a:endParaRPr lang="en-US" sz="1050" dirty="0"/>
          </a:p>
        </p:txBody>
      </p:sp>
      <p:sp>
        <p:nvSpPr>
          <p:cNvPr id="22" name="Shape 16"/>
          <p:cNvSpPr/>
          <p:nvPr/>
        </p:nvSpPr>
        <p:spPr>
          <a:xfrm>
            <a:off x="7818120" y="5038344"/>
            <a:ext cx="3822192" cy="1051560"/>
          </a:xfrm>
          <a:prstGeom prst="roundRect">
            <a:avLst>
              <a:gd name="adj" fmla="val 6957"/>
            </a:avLst>
          </a:prstGeom>
          <a:solidFill>
            <a:srgbClr val="1E2761"/>
          </a:solidFill>
          <a:ln/>
        </p:spPr>
      </p:sp>
      <p:sp>
        <p:nvSpPr>
          <p:cNvPr id="23" name="Text 17"/>
          <p:cNvSpPr txBox="1"/>
          <p:nvPr/>
        </p:nvSpPr>
        <p:spPr>
          <a:xfrm>
            <a:off x="8019288" y="5157216"/>
            <a:ext cx="3419856" cy="822960"/>
          </a:xfrm>
          <a:prstGeom prst="rect">
            <a:avLst/>
          </a:prstGeom>
          <a:noFill/>
          <a:ln/>
        </p:spPr>
        <p:txBody>
          <a:bodyPr wrap="square" lIns="0" tIns="0" rIns="0" bIns="0" rtlCol="0" anchor="t"/>
          <a:lstStyle/>
          <a:p>
            <a:pPr indent="0" marL="0">
              <a:lnSpc>
                <a:spcPct val="120000"/>
              </a:lnSpc>
              <a:buNone/>
            </a:pPr>
            <a:r>
              <a:rPr lang="en-US" sz="1100" dirty="0">
                <a:solidFill>
                  <a:srgbClr val="FFFFFF"/>
                </a:solidFill>
                <a:latin typeface="Calibri" pitchFamily="34" charset="0"/>
                <a:ea typeface="Calibri" pitchFamily="34" charset="-122"/>
                <a:cs typeface="Calibri" pitchFamily="34" charset="-120"/>
              </a:rPr>
              <a:t>Validación temporal, no aleatoria: se entrena con meses anteriores y se valida con el último mes disponible, igual que en producción.</a:t>
            </a:r>
            <a:endParaRPr lang="en-US" sz="1100" dirty="0"/>
          </a:p>
        </p:txBody>
      </p:sp>
      <p:sp>
        <p:nvSpPr>
          <p:cNvPr id="24" name="Text 18"/>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2FB"/>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822960"/>
          </a:xfrm>
          <a:prstGeom prst="rect">
            <a:avLst/>
          </a:prstGeom>
          <a:noFill/>
          <a:ln/>
        </p:spPr>
        <p:txBody>
          <a:bodyPr wrap="square" lIns="0" tIns="0" rIns="0" bIns="0" rtlCol="0" anchor="t"/>
          <a:lstStyle/>
          <a:p>
            <a:pPr indent="0" marL="0">
              <a:buNone/>
            </a:pPr>
            <a:r>
              <a:rPr lang="en-US" sz="2200" b="1" dirty="0">
                <a:solidFill>
                  <a:srgbClr val="1E2761"/>
                </a:solidFill>
                <a:latin typeface="Cambria" pitchFamily="34" charset="0"/>
                <a:ea typeface="Cambria" pitchFamily="34" charset="-122"/>
                <a:cs typeface="Cambria" pitchFamily="34" charset="-120"/>
              </a:rPr>
              <a:t>Se evaluaron 3 modelos; gana LightGBM por AUC, F1 y menor sobreajuste</a:t>
            </a:r>
            <a:endParaRPr lang="en-US" sz="2200" dirty="0"/>
          </a:p>
        </p:txBody>
      </p:sp>
      <p:sp>
        <p:nvSpPr>
          <p:cNvPr id="3" name="Shape 1"/>
          <p:cNvSpPr/>
          <p:nvPr/>
        </p:nvSpPr>
        <p:spPr>
          <a:xfrm>
            <a:off x="548640" y="1508760"/>
            <a:ext cx="6656832" cy="2921438"/>
          </a:xfrm>
          <a:prstGeom prst="roundRect">
            <a:avLst>
              <a:gd name="adj" fmla="val 1878"/>
            </a:avLst>
          </a:prstGeom>
          <a:solidFill>
            <a:srgbClr val="FFFFFF"/>
          </a:solidFill>
          <a:ln/>
        </p:spPr>
      </p:sp>
      <p:pic>
        <p:nvPicPr>
          <p:cNvPr id="4" name="Image 0" descr="/home/claude/prueba_bancolombia/notebooks/model_outputs/roc_comparacion.png">    </p:cNvPr>
          <p:cNvPicPr>
            <a:picLocks noChangeAspect="1"/>
          </p:cNvPicPr>
          <p:nvPr/>
        </p:nvPicPr>
        <p:blipFill>
          <a:blip r:embed="rId1"/>
          <a:stretch>
            <a:fillRect/>
          </a:stretch>
        </p:blipFill>
        <p:spPr>
          <a:xfrm>
            <a:off x="640080" y="1600200"/>
            <a:ext cx="6473952" cy="2738558"/>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613078"/>
          <a:ext cx="6656832" cy="914400"/>
        </p:xfrm>
        <a:graphic>
          <a:graphicData uri="http://schemas.openxmlformats.org/drawingml/2006/table">
            <a:tbl>
              <a:tblPr/>
              <a:tblGrid>
                <a:gridCol w="2084832"/>
                <a:gridCol w="1554480"/>
                <a:gridCol w="1554480"/>
                <a:gridCol w="1463040"/>
              </a:tblGrid>
              <a:tr h="292608">
                <a:tc>
                  <a:txBody>
                    <a:bodyPr/>
                    <a:lstStyle/>
                    <a:p>
                      <a:pPr indent="0" marL="0">
                        <a:buNone/>
                      </a:pPr>
                      <a:r>
                        <a:rPr lang="en-US" sz="1100" b="1" dirty="0">
                          <a:solidFill>
                            <a:srgbClr val="FFFFFF"/>
                          </a:solidFill>
                        </a:rPr>
                        <a:t>Modelo</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AUC valid.</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F1 valid.</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Brecha train–valid</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292608">
                <a:tc>
                  <a:txBody>
                    <a:bodyPr/>
                    <a:lstStyle/>
                    <a:p>
                      <a:pPr indent="0" marL="0">
                        <a:buNone/>
                      </a:pPr>
                      <a:r>
                        <a:rPr lang="en-US" sz="1100" b="1" dirty="0">
                          <a:solidFill>
                            <a:srgbClr val="1E2761"/>
                          </a:solidFill>
                        </a:rPr>
                        <a:t>LightGBM ✓</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EEF2FB"/>
                    </a:solidFill>
                  </a:tcPr>
                </a:tc>
                <a:tc>
                  <a:txBody>
                    <a:bodyPr/>
                    <a:lstStyle/>
                    <a:p>
                      <a:pPr algn="ctr" indent="0" marL="0">
                        <a:buNone/>
                      </a:pPr>
                      <a:r>
                        <a:rPr lang="en-US" sz="1100" dirty="0">
                          <a:solidFill>
                            <a:srgbClr val="1E2761"/>
                          </a:solidFill>
                        </a:rPr>
                        <a:t>0.729</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EEF2FB"/>
                    </a:solidFill>
                  </a:tcPr>
                </a:tc>
                <a:tc>
                  <a:txBody>
                    <a:bodyPr/>
                    <a:lstStyle/>
                    <a:p>
                      <a:pPr algn="ctr" indent="0" marL="0">
                        <a:buNone/>
                      </a:pPr>
                      <a:r>
                        <a:rPr lang="en-US" sz="1100" dirty="0">
                          <a:solidFill>
                            <a:srgbClr val="1E2761"/>
                          </a:solidFill>
                        </a:rPr>
                        <a:t>0.671</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EEF2FB"/>
                    </a:solidFill>
                  </a:tcPr>
                </a:tc>
                <a:tc>
                  <a:txBody>
                    <a:bodyPr/>
                    <a:lstStyle/>
                    <a:p>
                      <a:pPr algn="ctr" indent="0" marL="0">
                        <a:buNone/>
                      </a:pPr>
                      <a:r>
                        <a:rPr lang="en-US" sz="1100" dirty="0">
                          <a:solidFill>
                            <a:srgbClr val="1E2761"/>
                          </a:solidFill>
                        </a:rPr>
                        <a:t>0.053</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EEF2FB"/>
                    </a:solidFill>
                  </a:tcPr>
                </a:tc>
              </a:tr>
              <a:tr h="292608">
                <a:tc>
                  <a:txBody>
                    <a:bodyPr/>
                    <a:lstStyle/>
                    <a:p>
                      <a:pPr indent="0" marL="0">
                        <a:buNone/>
                      </a:pPr>
                      <a:r>
                        <a:rPr lang="en-US" sz="1100" dirty="0">
                          <a:solidFill>
                            <a:srgbClr val="1E2761"/>
                          </a:solidFill>
                        </a:rPr>
                        <a:t>Random Forest</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8C"/>
                          </a:solidFill>
                        </a:rPr>
                        <a:t>0.705</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8C"/>
                          </a:solidFill>
                        </a:rPr>
                        <a:t>0.660</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8C"/>
                          </a:solidFill>
                        </a:rPr>
                        <a:t>0.025</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761"/>
                          </a:solidFill>
                        </a:rPr>
                        <a:t>Regresión Logística</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8C"/>
                          </a:solidFill>
                        </a:rPr>
                        <a:t>0.685</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8C"/>
                          </a:solidFill>
                        </a:rPr>
                        <a:t>0.649</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8C"/>
                          </a:solidFill>
                        </a:rPr>
                        <a:t>0.022</a:t>
                      </a:r>
                      <a:endParaRPr lang="en-US" sz="1100" dirty="0"/>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920670"/>
            <a:ext cx="6656832" cy="777240"/>
          </a:xfrm>
          <a:prstGeom prst="rect">
            <a:avLst/>
          </a:prstGeom>
          <a:noFill/>
          <a:ln/>
        </p:spPr>
        <p:txBody>
          <a:bodyPr wrap="square" lIns="0" tIns="0" rIns="0" bIns="0" rtlCol="0" anchor="t"/>
          <a:lstStyle/>
          <a:p>
            <a:pPr indent="0" marL="0">
              <a:lnSpc>
                <a:spcPct val="120000"/>
              </a:lnSpc>
              <a:buNone/>
            </a:pPr>
            <a:r>
              <a:rPr lang="en-US" sz="1000" i="1" dirty="0">
                <a:solidFill>
                  <a:srgbClr val="5B6B8C"/>
                </a:solidFill>
                <a:latin typeface="Calibri" pitchFamily="34" charset="0"/>
                <a:ea typeface="Calibri" pitchFamily="34" charset="-122"/>
                <a:cs typeface="Calibri" pitchFamily="34" charset="-120"/>
              </a:rPr>
              <a:t>Criterio de selección: mayor F1 en validación (métrica de la prueba) y AUC, con la menor brecha train–valid posible (mide sobreajuste). LightGBM gana en las tres.</a:t>
            </a:r>
            <a:endParaRPr lang="en-US" sz="1000" dirty="0"/>
          </a:p>
          <a:p>
            <a:pPr indent="0" marL="0">
              <a:lnSpc>
                <a:spcPct val="120000"/>
              </a:lnSpc>
              <a:buNone/>
            </a:pPr>
            <a:r>
              <a:rPr lang="en-US" sz="1000" i="1" dirty="0">
                <a:solidFill>
                  <a:srgbClr val="5B6B8C"/>
                </a:solidFill>
                <a:latin typeface="Calibri" pitchFamily="34" charset="0"/>
                <a:ea typeface="Calibri" pitchFamily="34" charset="-122"/>
                <a:cs typeface="Calibri" pitchFamily="34" charset="-120"/>
              </a:rPr>
              <a:t>Principal limitación: oot.csv no trae elegibilidad/producto vigente → ~50% de las obligaciones de enero-2024 son “cold start”.</a:t>
            </a:r>
            <a:endParaRPr lang="en-US" sz="1000" dirty="0"/>
          </a:p>
        </p:txBody>
      </p:sp>
      <p:sp>
        <p:nvSpPr>
          <p:cNvPr id="7" name="Shape 3"/>
          <p:cNvSpPr/>
          <p:nvPr/>
        </p:nvSpPr>
        <p:spPr>
          <a:xfrm>
            <a:off x="7481868" y="1508760"/>
            <a:ext cx="4158444" cy="4892040"/>
          </a:xfrm>
          <a:prstGeom prst="roundRect">
            <a:avLst>
              <a:gd name="adj" fmla="val 1319"/>
            </a:avLst>
          </a:prstGeom>
          <a:solidFill>
            <a:srgbClr val="FFFFFF"/>
          </a:solidFill>
          <a:ln/>
        </p:spPr>
      </p:sp>
      <p:pic>
        <p:nvPicPr>
          <p:cNvPr id="8" name="Image 1" descr="/home/claude/prueba_bancolombia/notebooks/model_outputs/shap_summary.png">    </p:cNvPr>
          <p:cNvPicPr>
            <a:picLocks noChangeAspect="1"/>
          </p:cNvPicPr>
          <p:nvPr/>
        </p:nvPicPr>
        <p:blipFill>
          <a:blip r:embed="rId2"/>
          <a:stretch>
            <a:fillRect/>
          </a:stretch>
        </p:blipFill>
        <p:spPr>
          <a:xfrm>
            <a:off x="7591596" y="1618488"/>
            <a:ext cx="3938988" cy="4672584"/>
          </a:xfrm>
          <a:prstGeom prst="rect">
            <a:avLst/>
          </a:prstGeom>
        </p:spPr>
      </p:pic>
      <p:sp>
        <p:nvSpPr>
          <p:cNvPr id="9" name="Text 4"/>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02920"/>
            <a:ext cx="11064240" cy="82296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Cómo decide el agente, paso a paso</a:t>
            </a:r>
            <a:endParaRPr lang="en-US" sz="3000" dirty="0"/>
          </a:p>
        </p:txBody>
      </p:sp>
      <p:pic>
        <p:nvPicPr>
          <p:cNvPr id="3" name="Image 0" descr="/home/claude/prueba_bancolombia/docs/assets/diagrama_arquitectura_parte2.png">    </p:cNvPr>
          <p:cNvPicPr>
            <a:picLocks noChangeAspect="1"/>
          </p:cNvPicPr>
          <p:nvPr/>
        </p:nvPicPr>
        <p:blipFill>
          <a:blip r:embed="rId1"/>
          <a:stretch>
            <a:fillRect/>
          </a:stretch>
        </p:blipFill>
        <p:spPr>
          <a:xfrm>
            <a:off x="1705356" y="1325880"/>
            <a:ext cx="8778240" cy="5265891"/>
          </a:xfrm>
          <a:prstGeom prst="rect">
            <a:avLst/>
          </a:prstGeom>
        </p:spPr>
      </p:pic>
      <p:sp>
        <p:nvSpPr>
          <p:cNvPr id="4" name="Text 1"/>
          <p:cNvSpPr txBox="1"/>
          <p:nvPr/>
        </p:nvSpPr>
        <p:spPr>
          <a:xfrm>
            <a:off x="548640" y="6728931"/>
            <a:ext cx="11064240" cy="548640"/>
          </a:xfrm>
          <a:prstGeom prst="rect">
            <a:avLst/>
          </a:prstGeom>
          <a:noFill/>
          <a:ln/>
        </p:spPr>
        <p:txBody>
          <a:bodyPr wrap="square" lIns="0" tIns="0" rIns="0" bIns="0" rtlCol="0" anchor="ctr"/>
          <a:lstStyle/>
          <a:p>
            <a:pPr algn="ctr" indent="0" marL="0">
              <a:lnSpc>
                <a:spcPct val="120000"/>
              </a:lnSpc>
              <a:buNone/>
            </a:pPr>
            <a:r>
              <a:rPr lang="en-US" sz="1350" i="1" dirty="0">
                <a:solidFill>
                  <a:srgbClr val="1E2761"/>
                </a:solidFill>
                <a:latin typeface="Calibri" pitchFamily="34" charset="0"/>
                <a:ea typeface="Calibri" pitchFamily="34" charset="-122"/>
                <a:cs typeface="Calibri" pitchFamily="34" charset="-120"/>
              </a:rPr>
              <a:t>Por qué separadas del LLM: en cobranza, la oferta debe ser exactamente la autorizada — nunca delegable a que un modelo de lenguaje la “invente”.</a:t>
            </a:r>
            <a:endParaRPr lang="en-US" sz="1350" dirty="0"/>
          </a:p>
        </p:txBody>
      </p:sp>
      <p:sp>
        <p:nvSpPr>
          <p:cNvPr id="5" name="Text 2"/>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822960"/>
          </a:xfrm>
          <a:prstGeom prst="rect">
            <a:avLst/>
          </a:prstGeom>
          <a:noFill/>
          <a:ln/>
        </p:spPr>
        <p:txBody>
          <a:bodyPr wrap="square" lIns="0" tIns="0" rIns="0" bIns="0" rtlCol="0" anchor="t"/>
          <a:lstStyle/>
          <a:p>
            <a:pPr indent="0" marL="0">
              <a:buNone/>
            </a:pPr>
            <a:r>
              <a:rPr lang="en-US" sz="2500" b="1" dirty="0">
                <a:solidFill>
                  <a:srgbClr val="1E2761"/>
                </a:solidFill>
                <a:latin typeface="Cambria" pitchFamily="34" charset="0"/>
                <a:ea typeface="Cambria" pitchFamily="34" charset="-122"/>
                <a:cs typeface="Cambria" pitchFamily="34" charset="-120"/>
              </a:rPr>
              <a:t>Probado a fondo: 49 pruebas, dos lógicas complementarias</a:t>
            </a:r>
            <a:endParaRPr lang="en-US" sz="2500" dirty="0"/>
          </a:p>
        </p:txBody>
      </p:sp>
      <p:sp>
        <p:nvSpPr>
          <p:cNvPr id="3" name="Text 1"/>
          <p:cNvSpPr txBox="1"/>
          <p:nvPr/>
        </p:nvSpPr>
        <p:spPr>
          <a:xfrm>
            <a:off x="548640" y="1600200"/>
            <a:ext cx="576072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Dirigidas — 42 pruebas escritas a mano</a:t>
            </a:r>
            <a:endParaRPr lang="en-US" sz="1550" dirty="0"/>
          </a:p>
        </p:txBody>
      </p:sp>
      <p:sp>
        <p:nvSpPr>
          <p:cNvPr id="4" name="Shape 2"/>
          <p:cNvSpPr/>
          <p:nvPr/>
        </p:nvSpPr>
        <p:spPr>
          <a:xfrm>
            <a:off x="594360" y="2139696"/>
            <a:ext cx="109728" cy="109728"/>
          </a:xfrm>
          <a:prstGeom prst="ellipse">
            <a:avLst/>
          </a:prstGeom>
          <a:solidFill>
            <a:srgbClr val="1E2761"/>
          </a:solidFill>
          <a:ln/>
        </p:spPr>
      </p:sp>
      <p:sp>
        <p:nvSpPr>
          <p:cNvPr id="5" name="Text 3"/>
          <p:cNvSpPr txBox="1"/>
          <p:nvPr/>
        </p:nvSpPr>
        <p:spPr>
          <a:xfrm>
            <a:off x="868680" y="2011680"/>
            <a:ext cx="539496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Reglas de negocio (8)</a:t>
            </a:r>
            <a:endParaRPr lang="en-US" sz="1250" dirty="0"/>
          </a:p>
        </p:txBody>
      </p:sp>
      <p:sp>
        <p:nvSpPr>
          <p:cNvPr id="6" name="Text 4"/>
          <p:cNvSpPr txBox="1"/>
          <p:nvPr/>
        </p:nvSpPr>
        <p:spPr>
          <a:xfrm>
            <a:off x="868680" y="2276856"/>
            <a:ext cx="5394960" cy="320040"/>
          </a:xfrm>
          <a:prstGeom prst="rect">
            <a:avLst/>
          </a:prstGeom>
          <a:noFill/>
          <a:ln/>
        </p:spPr>
        <p:txBody>
          <a:bodyPr wrap="square" lIns="0" tIns="0" rIns="0" bIns="0" rtlCol="0" anchor="ctr"/>
          <a:lstStyle/>
          <a:p>
            <a:pPr indent="0" marL="0">
              <a:buNone/>
            </a:pPr>
            <a:r>
              <a:rPr lang="en-US" sz="1030" dirty="0">
                <a:solidFill>
                  <a:srgbClr val="5B6B8C"/>
                </a:solidFill>
                <a:latin typeface="Calibri" pitchFamily="34" charset="0"/>
                <a:ea typeface="Calibri" pitchFamily="34" charset="-122"/>
                <a:cs typeface="Calibri" pitchFamily="34" charset="-120"/>
              </a:rPr>
              <a:t>Máx. 3 opciones/mes, cooldowns, restricción dura, incumplimiento reciente</a:t>
            </a:r>
            <a:endParaRPr lang="en-US" sz="1030" dirty="0"/>
          </a:p>
        </p:txBody>
      </p:sp>
      <p:sp>
        <p:nvSpPr>
          <p:cNvPr id="7" name="Shape 5"/>
          <p:cNvSpPr/>
          <p:nvPr/>
        </p:nvSpPr>
        <p:spPr>
          <a:xfrm>
            <a:off x="594360" y="2766060"/>
            <a:ext cx="109728" cy="109728"/>
          </a:xfrm>
          <a:prstGeom prst="ellipse">
            <a:avLst/>
          </a:prstGeom>
          <a:solidFill>
            <a:srgbClr val="1E2761"/>
          </a:solidFill>
          <a:ln/>
        </p:spPr>
      </p:sp>
      <p:sp>
        <p:nvSpPr>
          <p:cNvPr id="8" name="Text 6"/>
          <p:cNvSpPr txBox="1"/>
          <p:nvPr/>
        </p:nvSpPr>
        <p:spPr>
          <a:xfrm>
            <a:off x="868680" y="2638044"/>
            <a:ext cx="539496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Siguiente Mejor Acción (5)</a:t>
            </a:r>
            <a:endParaRPr lang="en-US" sz="1250" dirty="0"/>
          </a:p>
        </p:txBody>
      </p:sp>
      <p:sp>
        <p:nvSpPr>
          <p:cNvPr id="9" name="Text 7"/>
          <p:cNvSpPr txBox="1"/>
          <p:nvPr/>
        </p:nvSpPr>
        <p:spPr>
          <a:xfrm>
            <a:off x="868680" y="2903220"/>
            <a:ext cx="5394960" cy="320040"/>
          </a:xfrm>
          <a:prstGeom prst="rect">
            <a:avLst/>
          </a:prstGeom>
          <a:noFill/>
          <a:ln/>
        </p:spPr>
        <p:txBody>
          <a:bodyPr wrap="square" lIns="0" tIns="0" rIns="0" bIns="0" rtlCol="0" anchor="ctr"/>
          <a:lstStyle/>
          <a:p>
            <a:pPr indent="0" marL="0">
              <a:buNone/>
            </a:pPr>
            <a:r>
              <a:rPr lang="en-US" sz="1030" dirty="0">
                <a:solidFill>
                  <a:srgbClr val="5B6B8C"/>
                </a:solidFill>
                <a:latin typeface="Calibri" pitchFamily="34" charset="0"/>
                <a:ea typeface="Calibri" pitchFamily="34" charset="-122"/>
                <a:cs typeface="Calibri" pitchFamily="34" charset="-120"/>
              </a:rPr>
              <a:t>Priorización por mora, diferimiento, robustez si cae el scoring</a:t>
            </a:r>
            <a:endParaRPr lang="en-US" sz="1030" dirty="0"/>
          </a:p>
        </p:txBody>
      </p:sp>
      <p:sp>
        <p:nvSpPr>
          <p:cNvPr id="10" name="Shape 8"/>
          <p:cNvSpPr/>
          <p:nvPr/>
        </p:nvSpPr>
        <p:spPr>
          <a:xfrm>
            <a:off x="594360" y="3392424"/>
            <a:ext cx="109728" cy="109728"/>
          </a:xfrm>
          <a:prstGeom prst="ellipse">
            <a:avLst/>
          </a:prstGeom>
          <a:solidFill>
            <a:srgbClr val="1E2761"/>
          </a:solidFill>
          <a:ln/>
        </p:spPr>
      </p:sp>
      <p:sp>
        <p:nvSpPr>
          <p:cNvPr id="11" name="Text 9"/>
          <p:cNvSpPr txBox="1"/>
          <p:nvPr/>
        </p:nvSpPr>
        <p:spPr>
          <a:xfrm>
            <a:off x="868680" y="3264408"/>
            <a:ext cx="539496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Guardrails de seguridad (9)</a:t>
            </a:r>
            <a:endParaRPr lang="en-US" sz="1250" dirty="0"/>
          </a:p>
        </p:txBody>
      </p:sp>
      <p:sp>
        <p:nvSpPr>
          <p:cNvPr id="12" name="Text 10"/>
          <p:cNvSpPr txBox="1"/>
          <p:nvPr/>
        </p:nvSpPr>
        <p:spPr>
          <a:xfrm>
            <a:off x="868680" y="3529584"/>
            <a:ext cx="5394960" cy="320040"/>
          </a:xfrm>
          <a:prstGeom prst="rect">
            <a:avLst/>
          </a:prstGeom>
          <a:noFill/>
          <a:ln/>
        </p:spPr>
        <p:txBody>
          <a:bodyPr wrap="square" lIns="0" tIns="0" rIns="0" bIns="0" rtlCol="0" anchor="ctr"/>
          <a:lstStyle/>
          <a:p>
            <a:pPr indent="0" marL="0">
              <a:buNone/>
            </a:pPr>
            <a:r>
              <a:rPr lang="en-US" sz="1030" dirty="0">
                <a:solidFill>
                  <a:srgbClr val="5B6B8C"/>
                </a:solidFill>
                <a:latin typeface="Calibri" pitchFamily="34" charset="0"/>
                <a:ea typeface="Calibri" pitchFamily="34" charset="-122"/>
                <a:cs typeface="Calibri" pitchFamily="34" charset="-120"/>
              </a:rPr>
              <a:t>Manipulación, señales sensibles, info. contradictoria, tokens filtrados</a:t>
            </a:r>
            <a:endParaRPr lang="en-US" sz="1030" dirty="0"/>
          </a:p>
        </p:txBody>
      </p:sp>
      <p:sp>
        <p:nvSpPr>
          <p:cNvPr id="13" name="Shape 11"/>
          <p:cNvSpPr/>
          <p:nvPr/>
        </p:nvSpPr>
        <p:spPr>
          <a:xfrm>
            <a:off x="594360" y="4018788"/>
            <a:ext cx="109728" cy="109728"/>
          </a:xfrm>
          <a:prstGeom prst="ellipse">
            <a:avLst/>
          </a:prstGeom>
          <a:solidFill>
            <a:srgbClr val="1E2761"/>
          </a:solidFill>
          <a:ln/>
        </p:spPr>
      </p:sp>
      <p:sp>
        <p:nvSpPr>
          <p:cNvPr id="14" name="Text 12"/>
          <p:cNvSpPr txBox="1"/>
          <p:nvPr/>
        </p:nvSpPr>
        <p:spPr>
          <a:xfrm>
            <a:off x="868680" y="3890772"/>
            <a:ext cx="539496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NLU por reglas (5)</a:t>
            </a:r>
            <a:endParaRPr lang="en-US" sz="1250" dirty="0"/>
          </a:p>
        </p:txBody>
      </p:sp>
      <p:sp>
        <p:nvSpPr>
          <p:cNvPr id="15" name="Text 13"/>
          <p:cNvSpPr txBox="1"/>
          <p:nvPr/>
        </p:nvSpPr>
        <p:spPr>
          <a:xfrm>
            <a:off x="868680" y="4155948"/>
            <a:ext cx="5394960" cy="320040"/>
          </a:xfrm>
          <a:prstGeom prst="rect">
            <a:avLst/>
          </a:prstGeom>
          <a:noFill/>
          <a:ln/>
        </p:spPr>
        <p:txBody>
          <a:bodyPr wrap="square" lIns="0" tIns="0" rIns="0" bIns="0" rtlCol="0" anchor="ctr"/>
          <a:lstStyle/>
          <a:p>
            <a:pPr indent="0" marL="0">
              <a:buNone/>
            </a:pPr>
            <a:r>
              <a:rPr lang="en-US" sz="1030" dirty="0">
                <a:solidFill>
                  <a:srgbClr val="5B6B8C"/>
                </a:solidFill>
                <a:latin typeface="Calibri" pitchFamily="34" charset="0"/>
                <a:ea typeface="Calibri" pitchFamily="34" charset="-122"/>
                <a:cs typeface="Calibri" pitchFamily="34" charset="-120"/>
              </a:rPr>
              <a:t>Clasifica: acepta, rechaza, otra alternativa, saldo, dificultad</a:t>
            </a:r>
            <a:endParaRPr lang="en-US" sz="1030" dirty="0"/>
          </a:p>
        </p:txBody>
      </p:sp>
      <p:sp>
        <p:nvSpPr>
          <p:cNvPr id="16" name="Shape 14"/>
          <p:cNvSpPr/>
          <p:nvPr/>
        </p:nvSpPr>
        <p:spPr>
          <a:xfrm>
            <a:off x="594360" y="4645152"/>
            <a:ext cx="109728" cy="109728"/>
          </a:xfrm>
          <a:prstGeom prst="ellipse">
            <a:avLst/>
          </a:prstGeom>
          <a:solidFill>
            <a:srgbClr val="1E2761"/>
          </a:solidFill>
          <a:ln/>
        </p:spPr>
      </p:sp>
      <p:sp>
        <p:nvSpPr>
          <p:cNvPr id="17" name="Text 15"/>
          <p:cNvSpPr txBox="1"/>
          <p:nvPr/>
        </p:nvSpPr>
        <p:spPr>
          <a:xfrm>
            <a:off x="868680" y="4517136"/>
            <a:ext cx="539496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Agente conversacional (8)</a:t>
            </a:r>
            <a:endParaRPr lang="en-US" sz="1250" dirty="0"/>
          </a:p>
        </p:txBody>
      </p:sp>
      <p:sp>
        <p:nvSpPr>
          <p:cNvPr id="18" name="Text 16"/>
          <p:cNvSpPr txBox="1"/>
          <p:nvPr/>
        </p:nvSpPr>
        <p:spPr>
          <a:xfrm>
            <a:off x="868680" y="4782312"/>
            <a:ext cx="5394960" cy="320040"/>
          </a:xfrm>
          <a:prstGeom prst="rect">
            <a:avLst/>
          </a:prstGeom>
          <a:noFill/>
          <a:ln/>
        </p:spPr>
        <p:txBody>
          <a:bodyPr wrap="square" lIns="0" tIns="0" rIns="0" bIns="0" rtlCol="0" anchor="ctr"/>
          <a:lstStyle/>
          <a:p>
            <a:pPr indent="0" marL="0">
              <a:buNone/>
            </a:pPr>
            <a:r>
              <a:rPr lang="en-US" sz="1030" dirty="0">
                <a:solidFill>
                  <a:srgbClr val="5B6B8C"/>
                </a:solidFill>
                <a:latin typeface="Calibri" pitchFamily="34" charset="0"/>
                <a:ea typeface="Calibri" pitchFamily="34" charset="-122"/>
                <a:cs typeface="Calibri" pitchFamily="34" charset="-120"/>
              </a:rPr>
              <a:t>Valida la respuesta completa, no solo la etiqueta de intención</a:t>
            </a:r>
            <a:endParaRPr lang="en-US" sz="1030" dirty="0"/>
          </a:p>
        </p:txBody>
      </p:sp>
      <p:sp>
        <p:nvSpPr>
          <p:cNvPr id="19" name="Shape 17"/>
          <p:cNvSpPr/>
          <p:nvPr/>
        </p:nvSpPr>
        <p:spPr>
          <a:xfrm>
            <a:off x="594360" y="5271516"/>
            <a:ext cx="109728" cy="109728"/>
          </a:xfrm>
          <a:prstGeom prst="ellipse">
            <a:avLst/>
          </a:prstGeom>
          <a:solidFill>
            <a:srgbClr val="1E2761"/>
          </a:solidFill>
          <a:ln/>
        </p:spPr>
      </p:sp>
      <p:sp>
        <p:nvSpPr>
          <p:cNvPr id="20" name="Text 18"/>
          <p:cNvSpPr txBox="1"/>
          <p:nvPr/>
        </p:nvSpPr>
        <p:spPr>
          <a:xfrm>
            <a:off x="868680" y="5143500"/>
            <a:ext cx="539496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Integración orquestador (7)</a:t>
            </a:r>
            <a:endParaRPr lang="en-US" sz="1250" dirty="0"/>
          </a:p>
        </p:txBody>
      </p:sp>
      <p:sp>
        <p:nvSpPr>
          <p:cNvPr id="21" name="Text 19"/>
          <p:cNvSpPr txBox="1"/>
          <p:nvPr/>
        </p:nvSpPr>
        <p:spPr>
          <a:xfrm>
            <a:off x="868680" y="5408676"/>
            <a:ext cx="5394960" cy="320040"/>
          </a:xfrm>
          <a:prstGeom prst="rect">
            <a:avLst/>
          </a:prstGeom>
          <a:noFill/>
          <a:ln/>
        </p:spPr>
        <p:txBody>
          <a:bodyPr wrap="square" lIns="0" tIns="0" rIns="0" bIns="0" rtlCol="0" anchor="ctr"/>
          <a:lstStyle/>
          <a:p>
            <a:pPr indent="0" marL="0">
              <a:buNone/>
            </a:pPr>
            <a:r>
              <a:rPr lang="en-US" sz="1030" dirty="0">
                <a:solidFill>
                  <a:srgbClr val="5B6B8C"/>
                </a:solidFill>
                <a:latin typeface="Calibri" pitchFamily="34" charset="0"/>
                <a:ea typeface="Calibri" pitchFamily="34" charset="-122"/>
                <a:cs typeface="Calibri" pitchFamily="34" charset="-120"/>
              </a:rPr>
              <a:t>Flujo cliente→sistema de punta a punta, casos límite</a:t>
            </a:r>
            <a:endParaRPr lang="en-US" sz="1030" dirty="0"/>
          </a:p>
        </p:txBody>
      </p:sp>
      <p:sp>
        <p:nvSpPr>
          <p:cNvPr id="22" name="Text 20"/>
          <p:cNvSpPr txBox="1"/>
          <p:nvPr/>
        </p:nvSpPr>
        <p:spPr>
          <a:xfrm>
            <a:off x="6492240" y="1600200"/>
            <a:ext cx="512064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Masivas — 400 casos sintéticos, 0 violaciones</a:t>
            </a:r>
            <a:endParaRPr lang="en-US" sz="1550" dirty="0"/>
          </a:p>
        </p:txBody>
      </p:sp>
      <p:graphicFrame>
        <p:nvGraphicFramePr>
          <p:cNvPr id="23" name="Chart 0" descr=""/>
          <p:cNvGraphicFramePr/>
          <p:nvPr/>
        </p:nvGraphicFramePr>
        <p:xfrm>
          <a:off x="6400800" y="20116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6400800" y="5623560"/>
            <a:ext cx="5394960" cy="457200"/>
          </a:xfrm>
          <a:prstGeom prst="rect">
            <a:avLst/>
          </a:prstGeom>
          <a:noFill/>
          <a:ln/>
        </p:spPr>
        <p:txBody>
          <a:bodyPr wrap="square" lIns="0" tIns="0" rIns="0" bIns="0" rtlCol="0" anchor="ctr"/>
          <a:lstStyle/>
          <a:p>
            <a:pPr indent="0" marL="0">
              <a:buNone/>
            </a:pPr>
            <a:r>
              <a:rPr lang="en-US" sz="1100" i="1" dirty="0">
                <a:solidFill>
                  <a:srgbClr val="5B6B8C"/>
                </a:solidFill>
                <a:latin typeface="Calibri" pitchFamily="34" charset="0"/>
                <a:ea typeface="Calibri" pitchFamily="34" charset="-122"/>
                <a:cs typeface="Calibri" pitchFamily="34" charset="-120"/>
              </a:rPr>
              <a:t>5 invariantes de negocio verificadas sobre los 400 casos — 0 violaciones en todas.</a:t>
            </a:r>
            <a:endParaRPr lang="en-US" sz="1100" dirty="0"/>
          </a:p>
        </p:txBody>
      </p:sp>
      <p:sp>
        <p:nvSpPr>
          <p:cNvPr id="25" name="Text 22"/>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822960"/>
          </a:xfrm>
          <a:prstGeom prst="rect">
            <a:avLst/>
          </a:prstGeom>
          <a:noFill/>
          <a:ln/>
        </p:spPr>
        <p:txBody>
          <a:bodyPr wrap="square" lIns="0" tIns="0" rIns="0" bIns="0" rtlCol="0" anchor="t"/>
          <a:lstStyle/>
          <a:p>
            <a:pPr indent="0" marL="0">
              <a:buNone/>
            </a:pPr>
            <a:r>
              <a:rPr lang="en-US" sz="2500" b="1" dirty="0">
                <a:solidFill>
                  <a:srgbClr val="1E2761"/>
                </a:solidFill>
                <a:latin typeface="Cambria" pitchFamily="34" charset="0"/>
                <a:ea typeface="Cambria" pitchFamily="34" charset="-122"/>
                <a:cs typeface="Cambria" pitchFamily="34" charset="-120"/>
              </a:rPr>
              <a:t>Del prototipo a la operación: arquitectura y caminos</a:t>
            </a:r>
            <a:endParaRPr lang="en-US" sz="2500" dirty="0"/>
          </a:p>
        </p:txBody>
      </p:sp>
      <p:sp>
        <p:nvSpPr>
          <p:cNvPr id="3" name="Shape 1"/>
          <p:cNvSpPr/>
          <p:nvPr/>
        </p:nvSpPr>
        <p:spPr>
          <a:xfrm>
            <a:off x="548640" y="1783080"/>
            <a:ext cx="1993392" cy="1097280"/>
          </a:xfrm>
          <a:prstGeom prst="roundRect">
            <a:avLst>
              <a:gd name="adj" fmla="val 6667"/>
            </a:avLst>
          </a:prstGeom>
          <a:solidFill>
            <a:srgbClr val="1E2761"/>
          </a:solidFill>
          <a:ln/>
        </p:spPr>
      </p:sp>
      <p:sp>
        <p:nvSpPr>
          <p:cNvPr id="4" name="Text 2"/>
          <p:cNvSpPr txBox="1"/>
          <p:nvPr/>
        </p:nvSpPr>
        <p:spPr>
          <a:xfrm>
            <a:off x="621792" y="1783080"/>
            <a:ext cx="1847088" cy="10972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Feature</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store</a:t>
            </a:r>
            <a:endParaRPr lang="en-US" sz="1150" dirty="0"/>
          </a:p>
        </p:txBody>
      </p:sp>
      <p:sp>
        <p:nvSpPr>
          <p:cNvPr id="5" name="Text 3"/>
          <p:cNvSpPr txBox="1"/>
          <p:nvPr/>
        </p:nvSpPr>
        <p:spPr>
          <a:xfrm>
            <a:off x="2523744" y="2130552"/>
            <a:ext cx="237744" cy="45720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a:t>
            </a:r>
            <a:endParaRPr lang="en-US" sz="1500" dirty="0"/>
          </a:p>
        </p:txBody>
      </p:sp>
      <p:sp>
        <p:nvSpPr>
          <p:cNvPr id="6" name="Shape 4"/>
          <p:cNvSpPr/>
          <p:nvPr/>
        </p:nvSpPr>
        <p:spPr>
          <a:xfrm>
            <a:off x="2743200" y="1783080"/>
            <a:ext cx="1993392" cy="1097280"/>
          </a:xfrm>
          <a:prstGeom prst="roundRect">
            <a:avLst>
              <a:gd name="adj" fmla="val 6667"/>
            </a:avLst>
          </a:prstGeom>
          <a:solidFill>
            <a:srgbClr val="1E2761"/>
          </a:solidFill>
          <a:ln/>
        </p:spPr>
      </p:sp>
      <p:sp>
        <p:nvSpPr>
          <p:cNvPr id="7" name="Text 5"/>
          <p:cNvSpPr txBox="1"/>
          <p:nvPr/>
        </p:nvSpPr>
        <p:spPr>
          <a:xfrm>
            <a:off x="2816352" y="1783080"/>
            <a:ext cx="1847088" cy="10972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Entrenamiento</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(MLflow)</a:t>
            </a:r>
            <a:endParaRPr lang="en-US" sz="1150" dirty="0"/>
          </a:p>
        </p:txBody>
      </p:sp>
      <p:sp>
        <p:nvSpPr>
          <p:cNvPr id="8" name="Text 6"/>
          <p:cNvSpPr txBox="1"/>
          <p:nvPr/>
        </p:nvSpPr>
        <p:spPr>
          <a:xfrm>
            <a:off x="4718304" y="2130552"/>
            <a:ext cx="237744" cy="45720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937760" y="1783080"/>
            <a:ext cx="1993392" cy="1097280"/>
          </a:xfrm>
          <a:prstGeom prst="roundRect">
            <a:avLst>
              <a:gd name="adj" fmla="val 6667"/>
            </a:avLst>
          </a:prstGeom>
          <a:solidFill>
            <a:srgbClr val="1E2761"/>
          </a:solidFill>
          <a:ln/>
        </p:spPr>
      </p:sp>
      <p:sp>
        <p:nvSpPr>
          <p:cNvPr id="10" name="Text 8"/>
          <p:cNvSpPr txBox="1"/>
          <p:nvPr/>
        </p:nvSpPr>
        <p:spPr>
          <a:xfrm>
            <a:off x="5010912" y="1783080"/>
            <a:ext cx="1847088" cy="10972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Model</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Registry</a:t>
            </a:r>
            <a:endParaRPr lang="en-US" sz="1150" dirty="0"/>
          </a:p>
        </p:txBody>
      </p:sp>
      <p:sp>
        <p:nvSpPr>
          <p:cNvPr id="11" name="Text 9"/>
          <p:cNvSpPr txBox="1"/>
          <p:nvPr/>
        </p:nvSpPr>
        <p:spPr>
          <a:xfrm>
            <a:off x="6912864" y="2130552"/>
            <a:ext cx="237744" cy="45720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7132320" y="1783080"/>
            <a:ext cx="1993392" cy="1097280"/>
          </a:xfrm>
          <a:prstGeom prst="roundRect">
            <a:avLst>
              <a:gd name="adj" fmla="val 6667"/>
            </a:avLst>
          </a:prstGeom>
          <a:solidFill>
            <a:srgbClr val="1E2761"/>
          </a:solidFill>
          <a:ln/>
        </p:spPr>
      </p:sp>
      <p:sp>
        <p:nvSpPr>
          <p:cNvPr id="13" name="Text 11"/>
          <p:cNvSpPr txBox="1"/>
          <p:nvPr/>
        </p:nvSpPr>
        <p:spPr>
          <a:xfrm>
            <a:off x="7205472" y="1783080"/>
            <a:ext cx="1847088" cy="10972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Scoring</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batch + on-demand</a:t>
            </a:r>
            <a:endParaRPr lang="en-US" sz="1150" dirty="0"/>
          </a:p>
        </p:txBody>
      </p:sp>
      <p:sp>
        <p:nvSpPr>
          <p:cNvPr id="14" name="Text 12"/>
          <p:cNvSpPr txBox="1"/>
          <p:nvPr/>
        </p:nvSpPr>
        <p:spPr>
          <a:xfrm>
            <a:off x="9107424" y="2130552"/>
            <a:ext cx="237744" cy="45720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a:t>
            </a:r>
            <a:endParaRPr lang="en-US" sz="1500" dirty="0"/>
          </a:p>
        </p:txBody>
      </p:sp>
      <p:sp>
        <p:nvSpPr>
          <p:cNvPr id="15" name="Shape 13"/>
          <p:cNvSpPr/>
          <p:nvPr/>
        </p:nvSpPr>
        <p:spPr>
          <a:xfrm>
            <a:off x="9326880" y="1783080"/>
            <a:ext cx="1993392" cy="1097280"/>
          </a:xfrm>
          <a:prstGeom prst="roundRect">
            <a:avLst>
              <a:gd name="adj" fmla="val 6667"/>
            </a:avLst>
          </a:prstGeom>
          <a:solidFill>
            <a:srgbClr val="E8A33D"/>
          </a:solidFill>
          <a:ln/>
        </p:spPr>
      </p:sp>
      <p:sp>
        <p:nvSpPr>
          <p:cNvPr id="16" name="Text 14"/>
          <p:cNvSpPr txBox="1"/>
          <p:nvPr/>
        </p:nvSpPr>
        <p:spPr>
          <a:xfrm>
            <a:off x="9400032" y="1783080"/>
            <a:ext cx="1847088" cy="10972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Orquestador</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agéntico</a:t>
            </a:r>
            <a:endParaRPr lang="en-US" sz="1150" dirty="0"/>
          </a:p>
        </p:txBody>
      </p:sp>
      <p:sp>
        <p:nvSpPr>
          <p:cNvPr id="17" name="Shape 15"/>
          <p:cNvSpPr/>
          <p:nvPr/>
        </p:nvSpPr>
        <p:spPr>
          <a:xfrm>
            <a:off x="10323576" y="2880360"/>
            <a:ext cx="0" cy="91440"/>
          </a:xfrm>
          <a:prstGeom prst="line">
            <a:avLst/>
          </a:prstGeom>
          <a:noFill/>
          <a:ln w="15875">
            <a:solidFill>
              <a:srgbClr val="5B6B8C"/>
            </a:solidFill>
            <a:prstDash val="solid"/>
          </a:ln>
        </p:spPr>
      </p:sp>
      <p:sp>
        <p:nvSpPr>
          <p:cNvPr id="18" name="Shape 16"/>
          <p:cNvSpPr/>
          <p:nvPr/>
        </p:nvSpPr>
        <p:spPr>
          <a:xfrm>
            <a:off x="2391156" y="2971800"/>
            <a:ext cx="7932420" cy="0"/>
          </a:xfrm>
          <a:prstGeom prst="line">
            <a:avLst/>
          </a:prstGeom>
          <a:noFill/>
          <a:ln w="15875">
            <a:solidFill>
              <a:srgbClr val="5B6B8C"/>
            </a:solidFill>
            <a:prstDash val="solid"/>
          </a:ln>
        </p:spPr>
      </p:sp>
      <p:sp>
        <p:nvSpPr>
          <p:cNvPr id="19" name="Shape 17"/>
          <p:cNvSpPr/>
          <p:nvPr/>
        </p:nvSpPr>
        <p:spPr>
          <a:xfrm>
            <a:off x="2391156" y="2971800"/>
            <a:ext cx="0" cy="228600"/>
          </a:xfrm>
          <a:prstGeom prst="line">
            <a:avLst/>
          </a:prstGeom>
          <a:noFill/>
          <a:ln w="15875">
            <a:solidFill>
              <a:srgbClr val="5B6B8C"/>
            </a:solidFill>
            <a:prstDash val="solid"/>
          </a:ln>
        </p:spPr>
      </p:sp>
      <p:sp>
        <p:nvSpPr>
          <p:cNvPr id="20" name="Shape 18"/>
          <p:cNvSpPr/>
          <p:nvPr/>
        </p:nvSpPr>
        <p:spPr>
          <a:xfrm>
            <a:off x="699516" y="3200400"/>
            <a:ext cx="3383280" cy="960120"/>
          </a:xfrm>
          <a:prstGeom prst="roundRect">
            <a:avLst>
              <a:gd name="adj" fmla="val 7619"/>
            </a:avLst>
          </a:prstGeom>
          <a:solidFill>
            <a:srgbClr val="EEF2FB"/>
          </a:solidFill>
          <a:ln/>
        </p:spPr>
      </p:sp>
      <p:sp>
        <p:nvSpPr>
          <p:cNvPr id="21" name="Text 19"/>
          <p:cNvSpPr txBox="1"/>
          <p:nvPr/>
        </p:nvSpPr>
        <p:spPr>
          <a:xfrm>
            <a:off x="836676" y="3291840"/>
            <a:ext cx="3108960" cy="365760"/>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Canal cliente</a:t>
            </a:r>
            <a:endParaRPr lang="en-US" sz="1300" dirty="0"/>
          </a:p>
        </p:txBody>
      </p:sp>
      <p:sp>
        <p:nvSpPr>
          <p:cNvPr id="22" name="Text 20"/>
          <p:cNvSpPr txBox="1"/>
          <p:nvPr/>
        </p:nvSpPr>
        <p:spPr>
          <a:xfrm>
            <a:off x="836676" y="3639312"/>
            <a:ext cx="3108960" cy="457200"/>
          </a:xfrm>
          <a:prstGeom prst="rect">
            <a:avLst/>
          </a:prstGeom>
          <a:noFill/>
          <a:ln/>
        </p:spPr>
        <p:txBody>
          <a:bodyPr wrap="square" lIns="0" tIns="0" rIns="0" bIns="0" rtlCol="0" anchor="t"/>
          <a:lstStyle/>
          <a:p>
            <a:pPr indent="0" marL="0">
              <a:buNone/>
            </a:pPr>
            <a:r>
              <a:rPr lang="en-US" sz="1050" i="1" dirty="0">
                <a:solidFill>
                  <a:srgbClr val="5B6B8C"/>
                </a:solidFill>
                <a:latin typeface="Calibri" pitchFamily="34" charset="0"/>
                <a:ea typeface="Calibri" pitchFamily="34" charset="-122"/>
                <a:cs typeface="Calibri" pitchFamily="34" charset="-120"/>
              </a:rPr>
              <a:t>WhatsApp / call center / app</a:t>
            </a:r>
            <a:endParaRPr lang="en-US" sz="1050" dirty="0"/>
          </a:p>
        </p:txBody>
      </p:sp>
      <p:sp>
        <p:nvSpPr>
          <p:cNvPr id="23" name="Shape 21"/>
          <p:cNvSpPr/>
          <p:nvPr/>
        </p:nvSpPr>
        <p:spPr>
          <a:xfrm>
            <a:off x="6094476" y="2971800"/>
            <a:ext cx="0" cy="228600"/>
          </a:xfrm>
          <a:prstGeom prst="line">
            <a:avLst/>
          </a:prstGeom>
          <a:noFill/>
          <a:ln w="15875">
            <a:solidFill>
              <a:srgbClr val="5B6B8C"/>
            </a:solidFill>
            <a:prstDash val="solid"/>
          </a:ln>
        </p:spPr>
      </p:sp>
      <p:sp>
        <p:nvSpPr>
          <p:cNvPr id="24" name="Shape 22"/>
          <p:cNvSpPr/>
          <p:nvPr/>
        </p:nvSpPr>
        <p:spPr>
          <a:xfrm>
            <a:off x="4402836" y="3200400"/>
            <a:ext cx="3383280" cy="960120"/>
          </a:xfrm>
          <a:prstGeom prst="roundRect">
            <a:avLst>
              <a:gd name="adj" fmla="val 7619"/>
            </a:avLst>
          </a:prstGeom>
          <a:solidFill>
            <a:srgbClr val="EEF2FB"/>
          </a:solidFill>
          <a:ln/>
        </p:spPr>
      </p:sp>
      <p:sp>
        <p:nvSpPr>
          <p:cNvPr id="25" name="Text 23"/>
          <p:cNvSpPr txBox="1"/>
          <p:nvPr/>
        </p:nvSpPr>
        <p:spPr>
          <a:xfrm>
            <a:off x="4539996" y="3291840"/>
            <a:ext cx="3108960" cy="365760"/>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Cola de escalamiento</a:t>
            </a:r>
            <a:endParaRPr lang="en-US" sz="1300" dirty="0"/>
          </a:p>
        </p:txBody>
      </p:sp>
      <p:sp>
        <p:nvSpPr>
          <p:cNvPr id="26" name="Text 24"/>
          <p:cNvSpPr txBox="1"/>
          <p:nvPr/>
        </p:nvSpPr>
        <p:spPr>
          <a:xfrm>
            <a:off x="4539996" y="3639312"/>
            <a:ext cx="3108960" cy="457200"/>
          </a:xfrm>
          <a:prstGeom prst="rect">
            <a:avLst/>
          </a:prstGeom>
          <a:noFill/>
          <a:ln/>
        </p:spPr>
        <p:txBody>
          <a:bodyPr wrap="square" lIns="0" tIns="0" rIns="0" bIns="0" rtlCol="0" anchor="t"/>
          <a:lstStyle/>
          <a:p>
            <a:pPr indent="0" marL="0">
              <a:buNone/>
            </a:pPr>
            <a:r>
              <a:rPr lang="en-US" sz="1050" i="1" dirty="0">
                <a:solidFill>
                  <a:srgbClr val="5B6B8C"/>
                </a:solidFill>
                <a:latin typeface="Calibri" pitchFamily="34" charset="0"/>
                <a:ea typeface="Calibri" pitchFamily="34" charset="-122"/>
                <a:cs typeface="Calibri" pitchFamily="34" charset="-120"/>
              </a:rPr>
              <a:t>Con contexto completo para el gestor</a:t>
            </a:r>
            <a:endParaRPr lang="en-US" sz="1050" dirty="0"/>
          </a:p>
        </p:txBody>
      </p:sp>
      <p:sp>
        <p:nvSpPr>
          <p:cNvPr id="27" name="Shape 25"/>
          <p:cNvSpPr/>
          <p:nvPr/>
        </p:nvSpPr>
        <p:spPr>
          <a:xfrm>
            <a:off x="9797796" y="2971800"/>
            <a:ext cx="0" cy="228600"/>
          </a:xfrm>
          <a:prstGeom prst="line">
            <a:avLst/>
          </a:prstGeom>
          <a:noFill/>
          <a:ln w="15875">
            <a:solidFill>
              <a:srgbClr val="5B6B8C"/>
            </a:solidFill>
            <a:prstDash val="solid"/>
          </a:ln>
        </p:spPr>
      </p:sp>
      <p:sp>
        <p:nvSpPr>
          <p:cNvPr id="28" name="Shape 26"/>
          <p:cNvSpPr/>
          <p:nvPr/>
        </p:nvSpPr>
        <p:spPr>
          <a:xfrm>
            <a:off x="8106156" y="3200400"/>
            <a:ext cx="3383280" cy="960120"/>
          </a:xfrm>
          <a:prstGeom prst="roundRect">
            <a:avLst>
              <a:gd name="adj" fmla="val 7619"/>
            </a:avLst>
          </a:prstGeom>
          <a:solidFill>
            <a:srgbClr val="EEF2FB"/>
          </a:solidFill>
          <a:ln/>
        </p:spPr>
      </p:sp>
      <p:sp>
        <p:nvSpPr>
          <p:cNvPr id="29" name="Text 27"/>
          <p:cNvSpPr txBox="1"/>
          <p:nvPr/>
        </p:nvSpPr>
        <p:spPr>
          <a:xfrm>
            <a:off x="8243316" y="3291840"/>
            <a:ext cx="3108960" cy="365760"/>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Observabilidad</a:t>
            </a:r>
            <a:endParaRPr lang="en-US" sz="1300" dirty="0"/>
          </a:p>
        </p:txBody>
      </p:sp>
      <p:sp>
        <p:nvSpPr>
          <p:cNvPr id="30" name="Text 28"/>
          <p:cNvSpPr txBox="1"/>
          <p:nvPr/>
        </p:nvSpPr>
        <p:spPr>
          <a:xfrm>
            <a:off x="8243316" y="3639312"/>
            <a:ext cx="3108960" cy="457200"/>
          </a:xfrm>
          <a:prstGeom prst="rect">
            <a:avLst/>
          </a:prstGeom>
          <a:noFill/>
          <a:ln/>
        </p:spPr>
        <p:txBody>
          <a:bodyPr wrap="square" lIns="0" tIns="0" rIns="0" bIns="0" rtlCol="0" anchor="t"/>
          <a:lstStyle/>
          <a:p>
            <a:pPr indent="0" marL="0">
              <a:buNone/>
            </a:pPr>
            <a:r>
              <a:rPr lang="en-US" sz="1050" i="1" dirty="0">
                <a:solidFill>
                  <a:srgbClr val="5B6B8C"/>
                </a:solidFill>
                <a:latin typeface="Calibri" pitchFamily="34" charset="0"/>
                <a:ea typeface="Calibri" pitchFamily="34" charset="-122"/>
                <a:cs typeface="Calibri" pitchFamily="34" charset="-120"/>
              </a:rPr>
              <a:t>Trazas + monitor LLMOps</a:t>
            </a:r>
            <a:endParaRPr lang="en-US" sz="1050" dirty="0"/>
          </a:p>
        </p:txBody>
      </p:sp>
      <p:sp>
        <p:nvSpPr>
          <p:cNvPr id="31" name="Text 29"/>
          <p:cNvSpPr txBox="1"/>
          <p:nvPr/>
        </p:nvSpPr>
        <p:spPr>
          <a:xfrm>
            <a:off x="548640" y="5074920"/>
            <a:ext cx="45720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Próximos pasos</a:t>
            </a:r>
            <a:endParaRPr lang="en-US" sz="1500" dirty="0"/>
          </a:p>
        </p:txBody>
      </p:sp>
      <p:sp>
        <p:nvSpPr>
          <p:cNvPr id="32" name="Shape 30"/>
          <p:cNvSpPr/>
          <p:nvPr/>
        </p:nvSpPr>
        <p:spPr>
          <a:xfrm>
            <a:off x="548640" y="5532120"/>
            <a:ext cx="347472" cy="347472"/>
          </a:xfrm>
          <a:prstGeom prst="ellipse">
            <a:avLst/>
          </a:prstGeom>
          <a:solidFill>
            <a:srgbClr val="1E2761"/>
          </a:solidFill>
          <a:ln/>
        </p:spPr>
      </p:sp>
      <p:pic>
        <p:nvPicPr>
          <p:cNvPr id="33" name="Image 0" descr="preencoded.png">    </p:cNvPr>
          <p:cNvPicPr>
            <a:picLocks noChangeAspect="1"/>
          </p:cNvPicPr>
          <p:nvPr/>
        </p:nvPicPr>
        <p:blipFill>
          <a:blip r:embed="rId1"/>
          <a:stretch>
            <a:fillRect/>
          </a:stretch>
        </p:blipFill>
        <p:spPr>
          <a:xfrm>
            <a:off x="593811" y="5577291"/>
            <a:ext cx="257129" cy="257129"/>
          </a:xfrm>
          <a:prstGeom prst="rect">
            <a:avLst/>
          </a:prstGeom>
        </p:spPr>
      </p:pic>
      <p:sp>
        <p:nvSpPr>
          <p:cNvPr id="34" name="Text 31"/>
          <p:cNvSpPr txBox="1"/>
          <p:nvPr/>
        </p:nvSpPr>
        <p:spPr>
          <a:xfrm>
            <a:off x="1051560" y="5504688"/>
            <a:ext cx="10332720" cy="41148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Reemplazar el NLU por reglas con un LLM real + evaluación continua</a:t>
            </a:r>
            <a:endParaRPr lang="en-US" sz="1250" dirty="0"/>
          </a:p>
        </p:txBody>
      </p:sp>
      <p:sp>
        <p:nvSpPr>
          <p:cNvPr id="35" name="Shape 32"/>
          <p:cNvSpPr/>
          <p:nvPr/>
        </p:nvSpPr>
        <p:spPr>
          <a:xfrm>
            <a:off x="548640" y="6035040"/>
            <a:ext cx="347472" cy="347472"/>
          </a:xfrm>
          <a:prstGeom prst="ellipse">
            <a:avLst/>
          </a:prstGeom>
          <a:solidFill>
            <a:srgbClr val="1E2761"/>
          </a:solidFill>
          <a:ln/>
        </p:spPr>
      </p:sp>
      <p:pic>
        <p:nvPicPr>
          <p:cNvPr id="36" name="Image 1" descr="preencoded.png">    </p:cNvPr>
          <p:cNvPicPr>
            <a:picLocks noChangeAspect="1"/>
          </p:cNvPicPr>
          <p:nvPr/>
        </p:nvPicPr>
        <p:blipFill>
          <a:blip r:embed="rId2"/>
          <a:stretch>
            <a:fillRect/>
          </a:stretch>
        </p:blipFill>
        <p:spPr>
          <a:xfrm>
            <a:off x="593811" y="6080211"/>
            <a:ext cx="257129" cy="257129"/>
          </a:xfrm>
          <a:prstGeom prst="rect">
            <a:avLst/>
          </a:prstGeom>
        </p:spPr>
      </p:pic>
      <p:sp>
        <p:nvSpPr>
          <p:cNvPr id="37" name="Text 33"/>
          <p:cNvSpPr txBox="1"/>
          <p:nvPr/>
        </p:nvSpPr>
        <p:spPr>
          <a:xfrm>
            <a:off x="1051560" y="6007608"/>
            <a:ext cx="10332720" cy="41148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Conseguir el dato de elegibilidad/producto vigente para el scoring on-demand</a:t>
            </a:r>
            <a:endParaRPr lang="en-US" sz="1250" dirty="0"/>
          </a:p>
        </p:txBody>
      </p:sp>
      <p:sp>
        <p:nvSpPr>
          <p:cNvPr id="38" name="Text 34"/>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822960"/>
          </a:xfrm>
          <a:prstGeom prst="rect">
            <a:avLst/>
          </a:prstGeom>
          <a:noFill/>
          <a:ln/>
        </p:spPr>
        <p:txBody>
          <a:bodyPr wrap="square" lIns="0" tIns="0" rIns="0" bIns="0" rtlCol="0" anchor="t"/>
          <a:lstStyle/>
          <a:p>
            <a:pPr indent="0" marL="0">
              <a:buNone/>
            </a:pPr>
            <a:r>
              <a:rPr lang="en-US" sz="2200" b="1" dirty="0">
                <a:solidFill>
                  <a:srgbClr val="1E2761"/>
                </a:solidFill>
                <a:latin typeface="Cambria" pitchFamily="34" charset="0"/>
                <a:ea typeface="Cambria" pitchFamily="34" charset="-122"/>
                <a:cs typeface="Cambria" pitchFamily="34" charset="-120"/>
              </a:rPr>
              <a:t>Sistema de monitoreo: qué medimos y cuándo se prende una alerta</a:t>
            </a:r>
            <a:endParaRPr lang="en-US" sz="2200" dirty="0"/>
          </a:p>
        </p:txBody>
      </p:sp>
      <p:sp>
        <p:nvSpPr>
          <p:cNvPr id="3" name="Text 1"/>
          <p:cNvSpPr txBox="1"/>
          <p:nvPr/>
        </p:nvSpPr>
        <p:spPr>
          <a:xfrm>
            <a:off x="548640" y="1645920"/>
            <a:ext cx="5394960" cy="32004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Parte 1 — Modelo</a:t>
            </a:r>
            <a:endParaRPr lang="en-US" sz="1500" dirty="0"/>
          </a:p>
        </p:txBody>
      </p:sp>
      <p:sp>
        <p:nvSpPr>
          <p:cNvPr id="4" name="Shape 2"/>
          <p:cNvSpPr/>
          <p:nvPr/>
        </p:nvSpPr>
        <p:spPr>
          <a:xfrm>
            <a:off x="548640" y="2157984"/>
            <a:ext cx="146304" cy="146304"/>
          </a:xfrm>
          <a:prstGeom prst="ellipse">
            <a:avLst/>
          </a:prstGeom>
          <a:solidFill>
            <a:srgbClr val="3F8F5F"/>
          </a:solidFill>
          <a:ln/>
        </p:spPr>
      </p:sp>
      <p:sp>
        <p:nvSpPr>
          <p:cNvPr id="5" name="Text 3"/>
          <p:cNvSpPr txBox="1"/>
          <p:nvPr/>
        </p:nvSpPr>
        <p:spPr>
          <a:xfrm>
            <a:off x="841248" y="2029968"/>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PSI del score</a:t>
            </a:r>
            <a:endParaRPr lang="en-US" sz="1300" dirty="0"/>
          </a:p>
        </p:txBody>
      </p:sp>
      <p:sp>
        <p:nvSpPr>
          <p:cNvPr id="6" name="Text 4"/>
          <p:cNvSpPr txBox="1"/>
          <p:nvPr/>
        </p:nvSpPr>
        <p:spPr>
          <a:xfrm>
            <a:off x="841248" y="2304288"/>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Estabilidad del score mes a mes. Alerta si &gt; 0.2 (hoy: dic-2023 vs. oot = 0.013).</a:t>
            </a:r>
            <a:endParaRPr lang="en-US" sz="1030" dirty="0"/>
          </a:p>
        </p:txBody>
      </p:sp>
      <p:sp>
        <p:nvSpPr>
          <p:cNvPr id="7" name="Shape 5"/>
          <p:cNvSpPr/>
          <p:nvPr/>
        </p:nvSpPr>
        <p:spPr>
          <a:xfrm>
            <a:off x="548640" y="2907792"/>
            <a:ext cx="146304" cy="146304"/>
          </a:xfrm>
          <a:prstGeom prst="ellipse">
            <a:avLst/>
          </a:prstGeom>
          <a:solidFill>
            <a:srgbClr val="3F8F5F"/>
          </a:solidFill>
          <a:ln/>
        </p:spPr>
      </p:sp>
      <p:sp>
        <p:nvSpPr>
          <p:cNvPr id="8" name="Text 6"/>
          <p:cNvSpPr txBox="1"/>
          <p:nvPr/>
        </p:nvSpPr>
        <p:spPr>
          <a:xfrm>
            <a:off x="841248" y="2779776"/>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PSI de variables clave</a:t>
            </a:r>
            <a:endParaRPr lang="en-US" sz="1300" dirty="0"/>
          </a:p>
        </p:txBody>
      </p:sp>
      <p:sp>
        <p:nvSpPr>
          <p:cNvPr id="9" name="Text 7"/>
          <p:cNvSpPr txBox="1"/>
          <p:nvPr/>
        </p:nvSpPr>
        <p:spPr>
          <a:xfrm>
            <a:off x="841248" y="3054096"/>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Historial de pagos, mora, demografía. Mismo umbral: &gt; 0.2.</a:t>
            </a:r>
            <a:endParaRPr lang="en-US" sz="1030" dirty="0"/>
          </a:p>
        </p:txBody>
      </p:sp>
      <p:sp>
        <p:nvSpPr>
          <p:cNvPr id="10" name="Shape 8"/>
          <p:cNvSpPr/>
          <p:nvPr/>
        </p:nvSpPr>
        <p:spPr>
          <a:xfrm>
            <a:off x="548640" y="3657600"/>
            <a:ext cx="146304" cy="146304"/>
          </a:xfrm>
          <a:prstGeom prst="ellipse">
            <a:avLst/>
          </a:prstGeom>
          <a:solidFill>
            <a:srgbClr val="E8A33D"/>
          </a:solidFill>
          <a:ln/>
        </p:spPr>
      </p:sp>
      <p:sp>
        <p:nvSpPr>
          <p:cNvPr id="11" name="Text 9"/>
          <p:cNvSpPr txBox="1"/>
          <p:nvPr/>
        </p:nvSpPr>
        <p:spPr>
          <a:xfrm>
            <a:off x="841248" y="3529584"/>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SHAP desarrollo vs. producción</a:t>
            </a:r>
            <a:endParaRPr lang="en-US" sz="1300" dirty="0"/>
          </a:p>
        </p:txBody>
      </p:sp>
      <p:sp>
        <p:nvSpPr>
          <p:cNvPr id="12" name="Text 10"/>
          <p:cNvSpPr txBox="1"/>
          <p:nvPr/>
        </p:nvSpPr>
        <p:spPr>
          <a:xfrm>
            <a:off x="841248" y="3803904"/>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Si el modelo empieza a explicar sus decisiones distinto. Revisión mensual.</a:t>
            </a:r>
            <a:endParaRPr lang="en-US" sz="1030" dirty="0"/>
          </a:p>
        </p:txBody>
      </p:sp>
      <p:sp>
        <p:nvSpPr>
          <p:cNvPr id="13" name="Shape 11"/>
          <p:cNvSpPr/>
          <p:nvPr/>
        </p:nvSpPr>
        <p:spPr>
          <a:xfrm>
            <a:off x="548640" y="4407408"/>
            <a:ext cx="146304" cy="146304"/>
          </a:xfrm>
          <a:prstGeom prst="ellipse">
            <a:avLst/>
          </a:prstGeom>
          <a:solidFill>
            <a:srgbClr val="E8A33D"/>
          </a:solidFill>
          <a:ln/>
        </p:spPr>
      </p:sp>
      <p:sp>
        <p:nvSpPr>
          <p:cNvPr id="14" name="Text 12"/>
          <p:cNvSpPr txBox="1"/>
          <p:nvPr/>
        </p:nvSpPr>
        <p:spPr>
          <a:xfrm>
            <a:off x="841248" y="4279392"/>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F1 / AUC real vs. predicho</a:t>
            </a:r>
            <a:endParaRPr lang="en-US" sz="1300" dirty="0"/>
          </a:p>
        </p:txBody>
      </p:sp>
      <p:sp>
        <p:nvSpPr>
          <p:cNvPr id="15" name="Text 13"/>
          <p:cNvSpPr txBox="1"/>
          <p:nvPr/>
        </p:nvSpPr>
        <p:spPr>
          <a:xfrm>
            <a:off x="841248" y="4553712"/>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Desempeño real con 1 mes de rezago. Dispara reentrenamiento si cae.</a:t>
            </a:r>
            <a:endParaRPr lang="en-US" sz="1030" dirty="0"/>
          </a:p>
        </p:txBody>
      </p:sp>
      <p:sp>
        <p:nvSpPr>
          <p:cNvPr id="16" name="Text 14"/>
          <p:cNvSpPr txBox="1"/>
          <p:nvPr/>
        </p:nvSpPr>
        <p:spPr>
          <a:xfrm>
            <a:off x="6263640" y="1645920"/>
            <a:ext cx="5394960" cy="32004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Parte 2 — Agente</a:t>
            </a:r>
            <a:endParaRPr lang="en-US" sz="1500" dirty="0"/>
          </a:p>
        </p:txBody>
      </p:sp>
      <p:sp>
        <p:nvSpPr>
          <p:cNvPr id="17" name="Shape 15"/>
          <p:cNvSpPr/>
          <p:nvPr/>
        </p:nvSpPr>
        <p:spPr>
          <a:xfrm>
            <a:off x="6263640" y="2157984"/>
            <a:ext cx="146304" cy="146304"/>
          </a:xfrm>
          <a:prstGeom prst="ellipse">
            <a:avLst/>
          </a:prstGeom>
          <a:solidFill>
            <a:srgbClr val="3F8F5F"/>
          </a:solidFill>
          <a:ln/>
        </p:spPr>
      </p:sp>
      <p:sp>
        <p:nvSpPr>
          <p:cNvPr id="18" name="Text 16"/>
          <p:cNvSpPr txBox="1"/>
          <p:nvPr/>
        </p:nvSpPr>
        <p:spPr>
          <a:xfrm>
            <a:off x="6556248" y="2029968"/>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Ofertas no autorizadas</a:t>
            </a:r>
            <a:endParaRPr lang="en-US" sz="1300" dirty="0"/>
          </a:p>
        </p:txBody>
      </p:sp>
      <p:sp>
        <p:nvSpPr>
          <p:cNvPr id="19" name="Text 17"/>
          <p:cNvSpPr txBox="1"/>
          <p:nvPr/>
        </p:nvSpPr>
        <p:spPr>
          <a:xfrm>
            <a:off x="6556248" y="2304288"/>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0% tolerado — bloqueo automático, no solo alerta.</a:t>
            </a:r>
            <a:endParaRPr lang="en-US" sz="1030" dirty="0"/>
          </a:p>
        </p:txBody>
      </p:sp>
      <p:sp>
        <p:nvSpPr>
          <p:cNvPr id="20" name="Shape 18"/>
          <p:cNvSpPr/>
          <p:nvPr/>
        </p:nvSpPr>
        <p:spPr>
          <a:xfrm>
            <a:off x="6263640" y="2907792"/>
            <a:ext cx="146304" cy="146304"/>
          </a:xfrm>
          <a:prstGeom prst="ellipse">
            <a:avLst/>
          </a:prstGeom>
          <a:solidFill>
            <a:srgbClr val="E8A33D"/>
          </a:solidFill>
          <a:ln/>
        </p:spPr>
      </p:sp>
      <p:sp>
        <p:nvSpPr>
          <p:cNvPr id="21" name="Text 19"/>
          <p:cNvSpPr txBox="1"/>
          <p:nvPr/>
        </p:nvSpPr>
        <p:spPr>
          <a:xfrm>
            <a:off x="6556248" y="2779776"/>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Precisión del escalamiento</a:t>
            </a:r>
            <a:endParaRPr lang="en-US" sz="1300" dirty="0"/>
          </a:p>
        </p:txBody>
      </p:sp>
      <p:sp>
        <p:nvSpPr>
          <p:cNvPr id="22" name="Text 20"/>
          <p:cNvSpPr txBox="1"/>
          <p:nvPr/>
        </p:nvSpPr>
        <p:spPr>
          <a:xfrm>
            <a:off x="6556248" y="3054096"/>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 85% confirmado como necesario por un gestor humano.</a:t>
            </a:r>
            <a:endParaRPr lang="en-US" sz="1030" dirty="0"/>
          </a:p>
        </p:txBody>
      </p:sp>
      <p:sp>
        <p:nvSpPr>
          <p:cNvPr id="23" name="Shape 21"/>
          <p:cNvSpPr/>
          <p:nvPr/>
        </p:nvSpPr>
        <p:spPr>
          <a:xfrm>
            <a:off x="6263640" y="3657600"/>
            <a:ext cx="146304" cy="146304"/>
          </a:xfrm>
          <a:prstGeom prst="ellipse">
            <a:avLst/>
          </a:prstGeom>
          <a:solidFill>
            <a:srgbClr val="E8A33D"/>
          </a:solidFill>
          <a:ln/>
        </p:spPr>
      </p:sp>
      <p:sp>
        <p:nvSpPr>
          <p:cNvPr id="24" name="Text 22"/>
          <p:cNvSpPr txBox="1"/>
          <p:nvPr/>
        </p:nvSpPr>
        <p:spPr>
          <a:xfrm>
            <a:off x="6556248" y="3529584"/>
            <a:ext cx="5102352" cy="292608"/>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Recall de señales sensibles</a:t>
            </a:r>
            <a:endParaRPr lang="en-US" sz="1300" dirty="0"/>
          </a:p>
        </p:txBody>
      </p:sp>
      <p:sp>
        <p:nvSpPr>
          <p:cNvPr id="25" name="Text 23"/>
          <p:cNvSpPr txBox="1"/>
          <p:nvPr/>
        </p:nvSpPr>
        <p:spPr>
          <a:xfrm>
            <a:off x="6556248" y="3803904"/>
            <a:ext cx="5102352" cy="502920"/>
          </a:xfrm>
          <a:prstGeom prst="rect">
            <a:avLst/>
          </a:prstGeom>
          <a:noFill/>
          <a:ln/>
        </p:spPr>
        <p:txBody>
          <a:bodyPr wrap="square" lIns="0" tIns="0" rIns="0" bIns="0" rtlCol="0" anchor="t"/>
          <a:lstStyle/>
          <a:p>
            <a:pPr indent="0" marL="0">
              <a:lnSpc>
                <a:spcPct val="115000"/>
              </a:lnSpc>
              <a:buNone/>
            </a:pPr>
            <a:r>
              <a:rPr lang="en-US" sz="1030" dirty="0">
                <a:solidFill>
                  <a:srgbClr val="5B6B8C"/>
                </a:solidFill>
                <a:latin typeface="Calibri" pitchFamily="34" charset="0"/>
                <a:ea typeface="Calibri" pitchFamily="34" charset="-122"/>
                <a:cs typeface="Calibri" pitchFamily="34" charset="-120"/>
              </a:rPr>
              <a:t>≥ 95% — el falso negativo es el error costoso aquí.</a:t>
            </a:r>
            <a:endParaRPr lang="en-US" sz="1030" dirty="0"/>
          </a:p>
        </p:txBody>
      </p:sp>
      <p:sp>
        <p:nvSpPr>
          <p:cNvPr id="26" name="Text 24"/>
          <p:cNvSpPr txBox="1"/>
          <p:nvPr/>
        </p:nvSpPr>
        <p:spPr>
          <a:xfrm>
            <a:off x="6263640" y="4489704"/>
            <a:ext cx="5394960" cy="365760"/>
          </a:xfrm>
          <a:prstGeom prst="rect">
            <a:avLst/>
          </a:prstGeom>
          <a:noFill/>
          <a:ln/>
        </p:spPr>
        <p:txBody>
          <a:bodyPr wrap="square" lIns="0" tIns="0" rIns="0" bIns="0" rtlCol="0" anchor="t"/>
          <a:lstStyle/>
          <a:p>
            <a:pPr indent="0" marL="0">
              <a:lnSpc>
                <a:spcPct val="110000"/>
              </a:lnSpc>
              <a:buNone/>
            </a:pPr>
            <a:r>
              <a:rPr lang="en-US" sz="1200" b="1" dirty="0">
                <a:solidFill>
                  <a:srgbClr val="1E2761"/>
                </a:solidFill>
                <a:latin typeface="Cambria" pitchFamily="34" charset="0"/>
                <a:ea typeface="Cambria" pitchFamily="34" charset="-122"/>
                <a:cs typeface="Cambria" pitchFamily="34" charset="-120"/>
              </a:rPr>
              <a:t>Distribución de caminos del agente (línea base de prueba, 400 casos sintéticos)</a:t>
            </a:r>
            <a:endParaRPr lang="en-US" sz="1200" dirty="0"/>
          </a:p>
        </p:txBody>
      </p:sp>
      <p:sp>
        <p:nvSpPr>
          <p:cNvPr id="27" name="Shape 25"/>
          <p:cNvSpPr/>
          <p:nvPr/>
        </p:nvSpPr>
        <p:spPr>
          <a:xfrm>
            <a:off x="6263640" y="4992624"/>
            <a:ext cx="2414245" cy="384048"/>
          </a:xfrm>
          <a:prstGeom prst="rect">
            <a:avLst/>
          </a:prstGeom>
          <a:solidFill>
            <a:srgbClr val="1E2761"/>
          </a:solidFill>
          <a:ln w="9525">
            <a:solidFill>
              <a:srgbClr val="FFFFFF"/>
            </a:solidFill>
            <a:prstDash val="solid"/>
          </a:ln>
        </p:spPr>
      </p:sp>
      <p:sp>
        <p:nvSpPr>
          <p:cNvPr id="28" name="Shape 26"/>
          <p:cNvSpPr/>
          <p:nvPr/>
        </p:nvSpPr>
        <p:spPr>
          <a:xfrm>
            <a:off x="8677885" y="4992624"/>
            <a:ext cx="2104034" cy="384048"/>
          </a:xfrm>
          <a:prstGeom prst="rect">
            <a:avLst/>
          </a:prstGeom>
          <a:solidFill>
            <a:srgbClr val="E8A33D"/>
          </a:solidFill>
          <a:ln w="9525">
            <a:solidFill>
              <a:srgbClr val="FFFFFF"/>
            </a:solidFill>
            <a:prstDash val="solid"/>
          </a:ln>
        </p:spPr>
      </p:sp>
      <p:sp>
        <p:nvSpPr>
          <p:cNvPr id="29" name="Shape 27"/>
          <p:cNvSpPr/>
          <p:nvPr/>
        </p:nvSpPr>
        <p:spPr>
          <a:xfrm>
            <a:off x="10781919" y="4992624"/>
            <a:ext cx="458572" cy="384048"/>
          </a:xfrm>
          <a:prstGeom prst="rect">
            <a:avLst/>
          </a:prstGeom>
          <a:solidFill>
            <a:srgbClr val="CADCFC"/>
          </a:solidFill>
          <a:ln w="9525">
            <a:solidFill>
              <a:srgbClr val="FFFFFF"/>
            </a:solidFill>
            <a:prstDash val="solid"/>
          </a:ln>
        </p:spPr>
      </p:sp>
      <p:sp>
        <p:nvSpPr>
          <p:cNvPr id="30" name="Shape 28"/>
          <p:cNvSpPr/>
          <p:nvPr/>
        </p:nvSpPr>
        <p:spPr>
          <a:xfrm>
            <a:off x="11240491" y="4992624"/>
            <a:ext cx="269748" cy="384048"/>
          </a:xfrm>
          <a:prstGeom prst="rect">
            <a:avLst/>
          </a:prstGeom>
          <a:solidFill>
            <a:srgbClr val="5B6B8C"/>
          </a:solidFill>
          <a:ln w="9525">
            <a:solidFill>
              <a:srgbClr val="FFFFFF"/>
            </a:solidFill>
            <a:prstDash val="solid"/>
          </a:ln>
        </p:spPr>
      </p:sp>
      <p:sp>
        <p:nvSpPr>
          <p:cNvPr id="31" name="Shape 29"/>
          <p:cNvSpPr/>
          <p:nvPr/>
        </p:nvSpPr>
        <p:spPr>
          <a:xfrm>
            <a:off x="11510239" y="4992624"/>
            <a:ext cx="148361" cy="384048"/>
          </a:xfrm>
          <a:prstGeom prst="rect">
            <a:avLst/>
          </a:prstGeom>
          <a:solidFill>
            <a:srgbClr val="141A47"/>
          </a:solidFill>
          <a:ln w="9525">
            <a:solidFill>
              <a:srgbClr val="FFFFFF"/>
            </a:solidFill>
            <a:prstDash val="solid"/>
          </a:ln>
        </p:spPr>
      </p:sp>
      <p:sp>
        <p:nvSpPr>
          <p:cNvPr id="32" name="Shape 30"/>
          <p:cNvSpPr/>
          <p:nvPr/>
        </p:nvSpPr>
        <p:spPr>
          <a:xfrm>
            <a:off x="6263640" y="5559552"/>
            <a:ext cx="128016" cy="128016"/>
          </a:xfrm>
          <a:prstGeom prst="rect">
            <a:avLst/>
          </a:prstGeom>
          <a:solidFill>
            <a:srgbClr val="1E2761"/>
          </a:solidFill>
          <a:ln/>
        </p:spPr>
      </p:sp>
      <p:sp>
        <p:nvSpPr>
          <p:cNvPr id="33" name="Text 31"/>
          <p:cNvSpPr txBox="1"/>
          <p:nvPr/>
        </p:nvSpPr>
        <p:spPr>
          <a:xfrm>
            <a:off x="6446520" y="5495544"/>
            <a:ext cx="2514600" cy="237744"/>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Ofrecer opción de pago (44.75%)</a:t>
            </a:r>
            <a:endParaRPr lang="en-US" sz="950" dirty="0"/>
          </a:p>
        </p:txBody>
      </p:sp>
      <p:sp>
        <p:nvSpPr>
          <p:cNvPr id="34" name="Shape 32"/>
          <p:cNvSpPr/>
          <p:nvPr/>
        </p:nvSpPr>
        <p:spPr>
          <a:xfrm>
            <a:off x="8961120" y="5559552"/>
            <a:ext cx="128016" cy="128016"/>
          </a:xfrm>
          <a:prstGeom prst="rect">
            <a:avLst/>
          </a:prstGeom>
          <a:solidFill>
            <a:srgbClr val="E8A33D"/>
          </a:solidFill>
          <a:ln/>
        </p:spPr>
      </p:sp>
      <p:sp>
        <p:nvSpPr>
          <p:cNvPr id="35" name="Text 33"/>
          <p:cNvSpPr txBox="1"/>
          <p:nvPr/>
        </p:nvSpPr>
        <p:spPr>
          <a:xfrm>
            <a:off x="9144000" y="5495544"/>
            <a:ext cx="2514600" cy="237744"/>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Escalar a humano (39%)</a:t>
            </a:r>
            <a:endParaRPr lang="en-US" sz="950" dirty="0"/>
          </a:p>
        </p:txBody>
      </p:sp>
      <p:sp>
        <p:nvSpPr>
          <p:cNvPr id="36" name="Shape 34"/>
          <p:cNvSpPr/>
          <p:nvPr/>
        </p:nvSpPr>
        <p:spPr>
          <a:xfrm>
            <a:off x="6263640" y="5815584"/>
            <a:ext cx="128016" cy="128016"/>
          </a:xfrm>
          <a:prstGeom prst="rect">
            <a:avLst/>
          </a:prstGeom>
          <a:solidFill>
            <a:srgbClr val="CADCFC"/>
          </a:solidFill>
          <a:ln/>
        </p:spPr>
      </p:sp>
      <p:sp>
        <p:nvSpPr>
          <p:cNvPr id="37" name="Text 35"/>
          <p:cNvSpPr txBox="1"/>
          <p:nvPr/>
        </p:nvSpPr>
        <p:spPr>
          <a:xfrm>
            <a:off x="6446520" y="5751576"/>
            <a:ext cx="2514600" cy="237744"/>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Monitoreo sin oferta (8.5%)</a:t>
            </a:r>
            <a:endParaRPr lang="en-US" sz="950" dirty="0"/>
          </a:p>
        </p:txBody>
      </p:sp>
      <p:sp>
        <p:nvSpPr>
          <p:cNvPr id="38" name="Shape 36"/>
          <p:cNvSpPr/>
          <p:nvPr/>
        </p:nvSpPr>
        <p:spPr>
          <a:xfrm>
            <a:off x="8961120" y="5815584"/>
            <a:ext cx="128016" cy="128016"/>
          </a:xfrm>
          <a:prstGeom prst="rect">
            <a:avLst/>
          </a:prstGeom>
          <a:solidFill>
            <a:srgbClr val="5B6B8C"/>
          </a:solidFill>
          <a:ln/>
        </p:spPr>
      </p:sp>
      <p:sp>
        <p:nvSpPr>
          <p:cNvPr id="39" name="Text 37"/>
          <p:cNvSpPr txBox="1"/>
          <p:nvPr/>
        </p:nvSpPr>
        <p:spPr>
          <a:xfrm>
            <a:off x="9144000" y="5751576"/>
            <a:ext cx="2514600" cy="237744"/>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Acuerdo de pago (5%)</a:t>
            </a:r>
            <a:endParaRPr lang="en-US" sz="950" dirty="0"/>
          </a:p>
        </p:txBody>
      </p:sp>
      <p:sp>
        <p:nvSpPr>
          <p:cNvPr id="40" name="Shape 38"/>
          <p:cNvSpPr/>
          <p:nvPr/>
        </p:nvSpPr>
        <p:spPr>
          <a:xfrm>
            <a:off x="6263640" y="6071616"/>
            <a:ext cx="128016" cy="128016"/>
          </a:xfrm>
          <a:prstGeom prst="rect">
            <a:avLst/>
          </a:prstGeom>
          <a:solidFill>
            <a:srgbClr val="141A47"/>
          </a:solidFill>
          <a:ln/>
        </p:spPr>
      </p:sp>
      <p:sp>
        <p:nvSpPr>
          <p:cNvPr id="41" name="Text 39"/>
          <p:cNvSpPr txBox="1"/>
          <p:nvPr/>
        </p:nvSpPr>
        <p:spPr>
          <a:xfrm>
            <a:off x="6446520" y="6007608"/>
            <a:ext cx="2514600" cy="237744"/>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Diferir auto-cura (2.75%)</a:t>
            </a:r>
            <a:endParaRPr lang="en-US" sz="950" dirty="0"/>
          </a:p>
        </p:txBody>
      </p:sp>
      <p:sp>
        <p:nvSpPr>
          <p:cNvPr id="42" name="Text 40"/>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Resumen ejecutivo</a:t>
            </a:r>
            <a:endParaRPr lang="en-US" sz="3000" dirty="0"/>
          </a:p>
        </p:txBody>
      </p:sp>
      <p:sp>
        <p:nvSpPr>
          <p:cNvPr id="3" name="Shape 1"/>
          <p:cNvSpPr/>
          <p:nvPr/>
        </p:nvSpPr>
        <p:spPr>
          <a:xfrm>
            <a:off x="548640" y="1554480"/>
            <a:ext cx="5440680" cy="1874520"/>
          </a:xfrm>
          <a:prstGeom prst="roundRect">
            <a:avLst>
              <a:gd name="adj" fmla="val 4878"/>
            </a:avLst>
          </a:prstGeom>
          <a:solidFill>
            <a:srgbClr val="EEF2FB"/>
          </a:solidFill>
          <a:ln/>
        </p:spPr>
      </p:sp>
      <p:sp>
        <p:nvSpPr>
          <p:cNvPr id="4" name="Text 2"/>
          <p:cNvSpPr txBox="1"/>
          <p:nvPr/>
        </p:nvSpPr>
        <p:spPr>
          <a:xfrm>
            <a:off x="804672" y="1719072"/>
            <a:ext cx="4928616" cy="32004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El resultado</a:t>
            </a:r>
            <a:endParaRPr lang="en-US" sz="1450" dirty="0"/>
          </a:p>
        </p:txBody>
      </p:sp>
      <p:sp>
        <p:nvSpPr>
          <p:cNvPr id="5" name="Text 3"/>
          <p:cNvSpPr txBox="1"/>
          <p:nvPr/>
        </p:nvSpPr>
        <p:spPr>
          <a:xfrm>
            <a:off x="804672" y="2057400"/>
            <a:ext cx="4928616" cy="1234440"/>
          </a:xfrm>
          <a:prstGeom prst="rect">
            <a:avLst/>
          </a:prstGeom>
          <a:noFill/>
          <a:ln/>
        </p:spPr>
        <p:txBody>
          <a:bodyPr wrap="square" lIns="0" tIns="0" rIns="0" bIns="0" rtlCol="0" anchor="t"/>
          <a:lstStyle/>
          <a:p>
            <a:pPr indent="0" marL="0">
              <a:lnSpc>
                <a:spcPct val="125000"/>
              </a:lnSpc>
              <a:buNone/>
            </a:pPr>
            <a:r>
              <a:rPr lang="en-US" sz="1250" dirty="0">
                <a:solidFill>
                  <a:srgbClr val="1E2761"/>
                </a:solidFill>
                <a:latin typeface="Calibri" pitchFamily="34" charset="0"/>
                <a:ea typeface="Calibri" pitchFamily="34" charset="-122"/>
                <a:cs typeface="Calibri" pitchFamily="34" charset="-120"/>
              </a:rPr>
              <a:t>6 de cada 10 clientes marcados como “alta probabilidad de aceptar” efectivamente aceptan — un mes antes de gestionarlos, sin depender solo del monto de la deuda.</a:t>
            </a:r>
            <a:endParaRPr lang="en-US" sz="1250" dirty="0"/>
          </a:p>
        </p:txBody>
      </p:sp>
      <p:sp>
        <p:nvSpPr>
          <p:cNvPr id="6" name="Shape 4"/>
          <p:cNvSpPr/>
          <p:nvPr/>
        </p:nvSpPr>
        <p:spPr>
          <a:xfrm>
            <a:off x="6172200" y="1554480"/>
            <a:ext cx="5440680" cy="1874520"/>
          </a:xfrm>
          <a:prstGeom prst="roundRect">
            <a:avLst>
              <a:gd name="adj" fmla="val 4878"/>
            </a:avLst>
          </a:prstGeom>
          <a:solidFill>
            <a:srgbClr val="1E2761"/>
          </a:solidFill>
          <a:ln/>
        </p:spPr>
      </p:sp>
      <p:sp>
        <p:nvSpPr>
          <p:cNvPr id="7" name="Text 5"/>
          <p:cNvSpPr txBox="1"/>
          <p:nvPr/>
        </p:nvSpPr>
        <p:spPr>
          <a:xfrm>
            <a:off x="6428232" y="1719072"/>
            <a:ext cx="4928616" cy="320040"/>
          </a:xfrm>
          <a:prstGeom prst="rect">
            <a:avLst/>
          </a:prstGeom>
          <a:noFill/>
          <a:ln/>
        </p:spPr>
        <p:txBody>
          <a:bodyPr wrap="square" lIns="0" tIns="0" rIns="0" bIns="0" rtlCol="0" anchor="ctr"/>
          <a:lstStyle/>
          <a:p>
            <a:pPr indent="0" marL="0">
              <a:buNone/>
            </a:pPr>
            <a:r>
              <a:rPr lang="en-US" sz="1450" b="1" dirty="0">
                <a:solidFill>
                  <a:srgbClr val="E8A33D"/>
                </a:solidFill>
                <a:latin typeface="Cambria" pitchFamily="34" charset="0"/>
                <a:ea typeface="Cambria" pitchFamily="34" charset="-122"/>
                <a:cs typeface="Cambria" pitchFamily="34" charset="-120"/>
              </a:rPr>
              <a:t>Qué automatiza y qué no decide solo</a:t>
            </a:r>
            <a:endParaRPr lang="en-US" sz="1450" dirty="0"/>
          </a:p>
        </p:txBody>
      </p:sp>
      <p:sp>
        <p:nvSpPr>
          <p:cNvPr id="8" name="Text 6"/>
          <p:cNvSpPr txBox="1"/>
          <p:nvPr/>
        </p:nvSpPr>
        <p:spPr>
          <a:xfrm>
            <a:off x="6428232" y="2057400"/>
            <a:ext cx="4928616" cy="1234440"/>
          </a:xfrm>
          <a:prstGeom prst="rect">
            <a:avLst/>
          </a:prstGeom>
          <a:noFill/>
          <a:ln/>
        </p:spPr>
        <p:txBody>
          <a:bodyPr wrap="square" lIns="0" tIns="0" rIns="0" bIns="0" rtlCol="0" anchor="t"/>
          <a:lstStyle/>
          <a:p>
            <a:pPr indent="0" marL="0">
              <a:lnSpc>
                <a:spcPct val="125000"/>
              </a:lnSpc>
              <a:buNone/>
            </a:pPr>
            <a:r>
              <a:rPr lang="en-US" sz="1250" dirty="0">
                <a:solidFill>
                  <a:srgbClr val="FFFFFF"/>
                </a:solidFill>
                <a:latin typeface="Calibri" pitchFamily="34" charset="0"/>
                <a:ea typeface="Calibri" pitchFamily="34" charset="-122"/>
                <a:cs typeface="Calibri" pitchFamily="34" charset="-120"/>
              </a:rPr>
              <a:t>Ofrece únicamente lo que la política de crédito ya autorizó. Todo caso sensible, dudoso o fuera de lo normal pasa a un gestor humano, con el contexto completo.</a:t>
            </a:r>
            <a:endParaRPr lang="en-US" sz="1250" dirty="0"/>
          </a:p>
        </p:txBody>
      </p:sp>
      <p:sp>
        <p:nvSpPr>
          <p:cNvPr id="9" name="Shape 7"/>
          <p:cNvSpPr/>
          <p:nvPr/>
        </p:nvSpPr>
        <p:spPr>
          <a:xfrm>
            <a:off x="548640" y="3611880"/>
            <a:ext cx="5440680" cy="1874520"/>
          </a:xfrm>
          <a:prstGeom prst="roundRect">
            <a:avLst>
              <a:gd name="adj" fmla="val 4878"/>
            </a:avLst>
          </a:prstGeom>
          <a:solidFill>
            <a:srgbClr val="EEF2FB"/>
          </a:solidFill>
          <a:ln/>
        </p:spPr>
      </p:sp>
      <p:sp>
        <p:nvSpPr>
          <p:cNvPr id="10" name="Text 8"/>
          <p:cNvSpPr txBox="1"/>
          <p:nvPr/>
        </p:nvSpPr>
        <p:spPr>
          <a:xfrm>
            <a:off x="804672" y="3776472"/>
            <a:ext cx="4928616" cy="32004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Riesgos y sus controles</a:t>
            </a:r>
            <a:endParaRPr lang="en-US" sz="1450" dirty="0"/>
          </a:p>
        </p:txBody>
      </p:sp>
      <p:sp>
        <p:nvSpPr>
          <p:cNvPr id="11" name="Text 9"/>
          <p:cNvSpPr txBox="1"/>
          <p:nvPr/>
        </p:nvSpPr>
        <p:spPr>
          <a:xfrm>
            <a:off x="804672" y="4114800"/>
            <a:ext cx="4928616" cy="1234440"/>
          </a:xfrm>
          <a:prstGeom prst="rect">
            <a:avLst/>
          </a:prstGeom>
          <a:noFill/>
          <a:ln/>
        </p:spPr>
        <p:txBody>
          <a:bodyPr wrap="square" lIns="0" tIns="0" rIns="0" bIns="0" rtlCol="0" anchor="t"/>
          <a:lstStyle/>
          <a:p>
            <a:pPr indent="0" marL="0">
              <a:lnSpc>
                <a:spcPct val="122000"/>
              </a:lnSpc>
              <a:buNone/>
            </a:pPr>
            <a:r>
              <a:rPr lang="en-US" sz="1180" dirty="0">
                <a:solidFill>
                  <a:srgbClr val="1E2761"/>
                </a:solidFill>
                <a:latin typeface="Calibri" pitchFamily="34" charset="0"/>
                <a:ea typeface="Calibri" pitchFamily="34" charset="-122"/>
                <a:cs typeface="Calibri" pitchFamily="34" charset="-120"/>
              </a:rPr>
              <a:t>Modelo desactualizado → monitoreo mensual con alerta. Oferta indebida → bloqueo automático y auditoría del 100%. Riesgo legal/reputacional → humano siempre disponible y trazabilidad completa.</a:t>
            </a:r>
            <a:endParaRPr lang="en-US" sz="1180" dirty="0"/>
          </a:p>
        </p:txBody>
      </p:sp>
      <p:sp>
        <p:nvSpPr>
          <p:cNvPr id="12" name="Shape 10"/>
          <p:cNvSpPr/>
          <p:nvPr/>
        </p:nvSpPr>
        <p:spPr>
          <a:xfrm>
            <a:off x="6172200" y="3611880"/>
            <a:ext cx="5440680" cy="1874520"/>
          </a:xfrm>
          <a:prstGeom prst="roundRect">
            <a:avLst>
              <a:gd name="adj" fmla="val 4878"/>
            </a:avLst>
          </a:prstGeom>
          <a:solidFill>
            <a:srgbClr val="1E2761"/>
          </a:solidFill>
          <a:ln/>
        </p:spPr>
      </p:sp>
      <p:sp>
        <p:nvSpPr>
          <p:cNvPr id="13" name="Text 11"/>
          <p:cNvSpPr txBox="1"/>
          <p:nvPr/>
        </p:nvSpPr>
        <p:spPr>
          <a:xfrm>
            <a:off x="6428232" y="3776472"/>
            <a:ext cx="4928616" cy="320040"/>
          </a:xfrm>
          <a:prstGeom prst="rect">
            <a:avLst/>
          </a:prstGeom>
          <a:noFill/>
          <a:ln/>
        </p:spPr>
        <p:txBody>
          <a:bodyPr wrap="square" lIns="0" tIns="0" rIns="0" bIns="0" rtlCol="0" anchor="ctr"/>
          <a:lstStyle/>
          <a:p>
            <a:pPr indent="0" marL="0">
              <a:buNone/>
            </a:pPr>
            <a:r>
              <a:rPr lang="en-US" sz="1450" b="1" dirty="0">
                <a:solidFill>
                  <a:srgbClr val="E8A33D"/>
                </a:solidFill>
                <a:latin typeface="Cambria" pitchFamily="34" charset="0"/>
                <a:ea typeface="Cambria" pitchFamily="34" charset="-122"/>
                <a:cs typeface="Cambria" pitchFamily="34" charset="-120"/>
              </a:rPr>
              <a:t>Alcance de esta entrega</a:t>
            </a:r>
            <a:endParaRPr lang="en-US" sz="1450" dirty="0"/>
          </a:p>
        </p:txBody>
      </p:sp>
      <p:sp>
        <p:nvSpPr>
          <p:cNvPr id="14" name="Text 12"/>
          <p:cNvSpPr txBox="1"/>
          <p:nvPr/>
        </p:nvSpPr>
        <p:spPr>
          <a:xfrm>
            <a:off x="6428232" y="4114800"/>
            <a:ext cx="4928616" cy="1234440"/>
          </a:xfrm>
          <a:prstGeom prst="rect">
            <a:avLst/>
          </a:prstGeom>
          <a:noFill/>
          <a:ln/>
        </p:spPr>
        <p:txBody>
          <a:bodyPr wrap="square" lIns="0" tIns="0" rIns="0" bIns="0" rtlCol="0" anchor="t"/>
          <a:lstStyle/>
          <a:p>
            <a:pPr indent="0" marL="0">
              <a:lnSpc>
                <a:spcPct val="122000"/>
              </a:lnSpc>
              <a:buNone/>
            </a:pPr>
            <a:r>
              <a:rPr lang="en-US" sz="1180" dirty="0">
                <a:solidFill>
                  <a:srgbClr val="FFFFFF"/>
                </a:solidFill>
                <a:latin typeface="Calibri" pitchFamily="34" charset="0"/>
                <a:ea typeface="Calibri" pitchFamily="34" charset="-122"/>
                <a:cs typeface="Calibri" pitchFamily="34" charset="-120"/>
              </a:rPr>
              <a:t>Prototipo funcional y probado a fondo (49 pruebas, 400 casos sintéticos, cero incidentes de cumplimiento). Sin LLM real ni datos de producción — listo para un piloto controlado.</a:t>
            </a:r>
            <a:endParaRPr lang="en-US" sz="1180" dirty="0"/>
          </a:p>
        </p:txBody>
      </p:sp>
      <p:sp>
        <p:nvSpPr>
          <p:cNvPr id="15" name="Shape 13"/>
          <p:cNvSpPr/>
          <p:nvPr/>
        </p:nvSpPr>
        <p:spPr>
          <a:xfrm>
            <a:off x="548640" y="5715000"/>
            <a:ext cx="11064240" cy="868680"/>
          </a:xfrm>
          <a:prstGeom prst="roundRect">
            <a:avLst>
              <a:gd name="adj" fmla="val 10526"/>
            </a:avLst>
          </a:prstGeom>
          <a:solidFill>
            <a:srgbClr val="E8A33D"/>
          </a:solidFill>
          <a:ln/>
        </p:spPr>
      </p:sp>
      <p:sp>
        <p:nvSpPr>
          <p:cNvPr id="16" name="Text 14"/>
          <p:cNvSpPr txBox="1"/>
          <p:nvPr/>
        </p:nvSpPr>
        <p:spPr>
          <a:xfrm>
            <a:off x="822960" y="5715000"/>
            <a:ext cx="10515600" cy="868680"/>
          </a:xfrm>
          <a:prstGeom prst="rect">
            <a:avLst/>
          </a:prstGeom>
          <a:noFill/>
          <a:ln/>
        </p:spPr>
        <p:txBody>
          <a:bodyPr wrap="square" lIns="0" tIns="0" rIns="0" bIns="0" rtlCol="0" anchor="ctr"/>
          <a:lstStyle/>
          <a:p>
            <a:pPr algn="ctr" indent="0" marL="0">
              <a:lnSpc>
                <a:spcPct val="115000"/>
              </a:lnSpc>
              <a:buNone/>
            </a:pPr>
            <a:r>
              <a:rPr lang="en-US" sz="1450" b="1" dirty="0">
                <a:solidFill>
                  <a:srgbClr val="141A47"/>
                </a:solidFill>
                <a:latin typeface="Cambria" pitchFamily="34" charset="0"/>
                <a:ea typeface="Cambria" pitchFamily="34" charset="-122"/>
                <a:cs typeface="Cambria" pitchFamily="34" charset="-120"/>
              </a:rPr>
              <a:t>Pedido: aprobar un piloto controlado — un segmento o mes acotado, con monitoreo diario, antes de escalar a toda la cartera.</a:t>
            </a:r>
            <a:endParaRPr lang="en-US" sz="1450" dirty="0"/>
          </a:p>
        </p:txBody>
      </p:sp>
      <p:sp>
        <p:nvSpPr>
          <p:cNvPr id="17" name="Text 15"/>
          <p:cNvSpPr txBox="1"/>
          <p:nvPr/>
        </p:nvSpPr>
        <p:spPr>
          <a:xfrm>
            <a:off x="11365992" y="6355080"/>
            <a:ext cx="457200" cy="32004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Mission SAS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Prueba Técnica Bancolombia — Modelo de Propensión y Sistema Agéntico</dc:title>
  <dc:subject>PptxGenJS Presentation</dc:subject>
  <dc:creator>Jose Nelson Gonzalez</dc:creator>
  <cp:lastModifiedBy>Jose Nelson Gonzalez</cp:lastModifiedBy>
  <cp:revision>1</cp:revision>
  <dcterms:created xsi:type="dcterms:W3CDTF">2026-09-22T23:55:22Z</dcterms:created>
  <dcterms:modified xsi:type="dcterms:W3CDTF">2026-09-22T23:55:22Z</dcterms:modified>
</cp:coreProperties>
</file>