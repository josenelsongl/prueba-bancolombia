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Presentarse brevemente y anunciar la estructura: 10 minutos técnicos + 5 minutos para el bloque ejecutivo/no técnico.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agenda en 15-20 segundos, sin detenerse en cada punto. Dejar claro que el bloque ejecutivo evita jerga técnica.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ancla: 'anticipar un mes antes la probabilidad de aceptación para priorizar mejor la gestión, y automatizar el ofrecimiento respetando reglas de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mayoría de columnas de trtest describen el resultado del mismo mes; por eso no sirven para predecir el mes siguiente sin fuga.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honestidad metodológica: la limitación de cold-start es real y está documentada, no oculta.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flujo con el dedo/puntero, de izquierda a derecha. Insistir en que las reglas de negocio son la única fuente de verdad sobre qué se puede ofrecer.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preguntan por qué no hay LLM: limitación del entorno de la prueba, no una decisión de diseño definitiva.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bloque técnico. Transición: 'con esto termina la parte técnica; ahora, en términos de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Marcar explícitamente el cambio de registro: el objetivo de este bloque es la aprobación de negocio, no explicar la técnica.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 el ejemplo numérico simple (6 de cada 10), no mencionar F1 ni la fórmula. El problema en una frase + el resultado de negocio van juntos en esta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mostrar, si el tiempo lo permite, un ejemplo real de transcripción con escalamiento (results/transcripciones_agentico.json) para dar confianza.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riesgo con su control: deriva -&gt; monitoreo; oferta indebida -&gt; bloqueo + auditoría; legal/reputacional -&gt; humano + trazabilidad.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Pedido explícito y concreto de aprobación de un piloto, no de un despliegue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47"/>
        </a:solidFill>
      </p:bgPr>
    </p:bg>
    <p:spTree>
      <p:nvGrpSpPr>
        <p:cNvPr id="1" name=""/>
        <p:cNvGrpSpPr/>
        <p:nvPr/>
      </p:nvGrpSpPr>
      <p:grpSpPr>
        <a:xfrm>
          <a:off x="0" y="0"/>
          <a:ext cx="0" cy="0"/>
          <a:chOff x="0" y="0"/>
          <a:chExt cx="0" cy="0"/>
        </a:xfrm>
      </p:grpSpPr>
      <p:sp>
        <p:nvSpPr>
          <p:cNvPr id="2" name="Shape 0"/>
          <p:cNvSpPr/>
          <p:nvPr/>
        </p:nvSpPr>
        <p:spPr>
          <a:xfrm>
            <a:off x="8961120" y="-2011680"/>
            <a:ext cx="5486400" cy="5486400"/>
          </a:xfrm>
          <a:prstGeom prst="ellipse">
            <a:avLst/>
          </a:prstGeom>
          <a:solidFill>
            <a:srgbClr val="1E2761"/>
          </a:solidFill>
          <a:ln/>
        </p:spPr>
      </p:sp>
      <p:sp>
        <p:nvSpPr>
          <p:cNvPr id="3" name="Shape 1"/>
          <p:cNvSpPr/>
          <p:nvPr/>
        </p:nvSpPr>
        <p:spPr>
          <a:xfrm>
            <a:off x="10607040" y="3931920"/>
            <a:ext cx="3657600" cy="3657600"/>
          </a:xfrm>
          <a:prstGeom prst="ellipse">
            <a:avLst/>
          </a:prstGeom>
          <a:solidFill>
            <a:srgbClr val="1E2761"/>
          </a:solidFill>
          <a:ln/>
        </p:spPr>
      </p:sp>
      <p:sp>
        <p:nvSpPr>
          <p:cNvPr id="4" name="Text 2"/>
          <p:cNvSpPr txBox="1"/>
          <p:nvPr/>
        </p:nvSpPr>
        <p:spPr>
          <a:xfrm>
            <a:off x="822960" y="1463040"/>
            <a:ext cx="9144000" cy="365760"/>
          </a:xfrm>
          <a:prstGeom prst="rect">
            <a:avLst/>
          </a:prstGeom>
          <a:noFill/>
          <a:ln/>
        </p:spPr>
        <p:txBody>
          <a:bodyPr wrap="square" lIns="0" tIns="0" rIns="0" bIns="0" rtlCol="0" anchor="ctr"/>
          <a:lstStyle/>
          <a:p>
            <a:pPr indent="0" marL="0">
              <a:buNone/>
            </a:pPr>
            <a:r>
              <a:rPr lang="en-US" sz="1300" b="1" spc="300" kern="0" dirty="0">
                <a:solidFill>
                  <a:srgbClr val="E8A33D"/>
                </a:solidFill>
                <a:latin typeface="Calibri" pitchFamily="34" charset="0"/>
                <a:ea typeface="Calibri" pitchFamily="34" charset="-122"/>
                <a:cs typeface="Calibri" pitchFamily="34" charset="-120"/>
              </a:rPr>
              <a:t>PRUEBA TÉCNICA · BANCOLOMBIA</a:t>
            </a:r>
            <a:endParaRPr lang="en-US" sz="1300" dirty="0"/>
          </a:p>
        </p:txBody>
      </p:sp>
      <p:sp>
        <p:nvSpPr>
          <p:cNvPr id="5" name="Text 3"/>
          <p:cNvSpPr txBox="1"/>
          <p:nvPr/>
        </p:nvSpPr>
        <p:spPr>
          <a:xfrm>
            <a:off x="822960" y="1920240"/>
            <a:ext cx="10241280" cy="192024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Modelo de Propensión a Aceptación</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de Opciones de Pago + Sistema Agéntico</a:t>
            </a:r>
            <a:endParaRPr lang="en-US" sz="4000" dirty="0"/>
          </a:p>
        </p:txBody>
      </p:sp>
      <p:sp>
        <p:nvSpPr>
          <p:cNvPr id="6" name="Text 4"/>
          <p:cNvSpPr txBox="1"/>
          <p:nvPr/>
        </p:nvSpPr>
        <p:spPr>
          <a:xfrm>
            <a:off x="822960" y="3794760"/>
            <a:ext cx="9144000" cy="45720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Gestión proactiva y reactiva de cartera en mora</a:t>
            </a:r>
            <a:endParaRPr lang="en-US" sz="1800" dirty="0"/>
          </a:p>
        </p:txBody>
      </p:sp>
      <p:sp>
        <p:nvSpPr>
          <p:cNvPr id="7" name="Shape 5"/>
          <p:cNvSpPr/>
          <p:nvPr/>
        </p:nvSpPr>
        <p:spPr>
          <a:xfrm>
            <a:off x="822960" y="5349240"/>
            <a:ext cx="2011680" cy="0"/>
          </a:xfrm>
          <a:prstGeom prst="line">
            <a:avLst/>
          </a:prstGeom>
          <a:noFill/>
          <a:ln w="25400">
            <a:solidFill>
              <a:srgbClr val="E8A33D"/>
            </a:solidFill>
            <a:prstDash val="solid"/>
          </a:ln>
        </p:spPr>
      </p:sp>
      <p:sp>
        <p:nvSpPr>
          <p:cNvPr id="8" name="Text 6"/>
          <p:cNvSpPr txBox="1"/>
          <p:nvPr/>
        </p:nvSpPr>
        <p:spPr>
          <a:xfrm>
            <a:off x="822960" y="5532120"/>
            <a:ext cx="7315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Jose Nelson González  ·  Mission SAS</a:t>
            </a:r>
            <a:endParaRPr lang="en-US" sz="1400" dirty="0"/>
          </a:p>
        </p:txBody>
      </p:sp>
      <p:sp>
        <p:nvSpPr>
          <p:cNvPr id="9" name="Text 7"/>
          <p:cNvSpPr txBox="1"/>
          <p:nvPr/>
        </p:nvSpPr>
        <p:spPr>
          <a:xfrm>
            <a:off x="822960" y="5897880"/>
            <a:ext cx="731520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Sustentación técnica y ejecutiva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AGENDA · 15 MINUTOS</a:t>
            </a:r>
            <a:endParaRPr lang="en-US" sz="1200" dirty="0"/>
          </a:p>
        </p:txBody>
      </p:sp>
      <p:sp>
        <p:nvSpPr>
          <p:cNvPr id="3" name="Text 1"/>
          <p:cNvSpPr txBox="1"/>
          <p:nvPr/>
        </p:nvSpPr>
        <p:spPr>
          <a:xfrm>
            <a:off x="548640" y="713232"/>
            <a:ext cx="1078992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Dos bloques, un solo objetivo: decidir</a:t>
            </a:r>
            <a:endParaRPr lang="en-US" sz="3200" dirty="0"/>
          </a:p>
        </p:txBody>
      </p:sp>
      <p:sp>
        <p:nvSpPr>
          <p:cNvPr id="4" name="Shape 2"/>
          <p:cNvSpPr/>
          <p:nvPr/>
        </p:nvSpPr>
        <p:spPr>
          <a:xfrm>
            <a:off x="640080" y="1874520"/>
            <a:ext cx="603504" cy="603504"/>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718536" y="1952976"/>
            <a:ext cx="446593" cy="446593"/>
          </a:xfrm>
          <a:prstGeom prst="rect">
            <a:avLst/>
          </a:prstGeom>
        </p:spPr>
      </p:pic>
      <p:sp>
        <p:nvSpPr>
          <p:cNvPr id="6" name="Text 3"/>
          <p:cNvSpPr txBox="1"/>
          <p:nvPr/>
        </p:nvSpPr>
        <p:spPr>
          <a:xfrm>
            <a:off x="1463040" y="1847088"/>
            <a:ext cx="694944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Contexto y objetivo</a:t>
            </a:r>
            <a:endParaRPr lang="en-US" sz="1700" dirty="0"/>
          </a:p>
        </p:txBody>
      </p:sp>
      <p:sp>
        <p:nvSpPr>
          <p:cNvPr id="7" name="Text 4"/>
          <p:cNvSpPr txBox="1"/>
          <p:nvPr/>
        </p:nvSpPr>
        <p:spPr>
          <a:xfrm>
            <a:off x="1463040" y="2203704"/>
            <a:ext cx="7223760" cy="320040"/>
          </a:xfrm>
          <a:prstGeom prst="rect">
            <a:avLst/>
          </a:prstGeom>
          <a:noFill/>
          <a:ln/>
        </p:spPr>
        <p:txBody>
          <a:bodyPr wrap="square" lIns="0" tIns="0" rIns="0" bIns="0" rtlCol="0" anchor="ctr"/>
          <a:lstStyle/>
          <a:p>
            <a:pPr indent="0" marL="0">
              <a:buNone/>
            </a:pPr>
            <a:r>
              <a:rPr lang="en-US" sz="1150" i="1" dirty="0">
                <a:solidFill>
                  <a:srgbClr val="5B6B8C"/>
                </a:solidFill>
                <a:latin typeface="Calibri" pitchFamily="34" charset="0"/>
                <a:ea typeface="Calibri" pitchFamily="34" charset="-122"/>
                <a:cs typeface="Calibri" pitchFamily="34" charset="-120"/>
              </a:rPr>
              <a:t>Por qué anticipar la aceptación de opciones de pago</a:t>
            </a:r>
            <a:endParaRPr lang="en-US" sz="1150" dirty="0"/>
          </a:p>
        </p:txBody>
      </p:sp>
      <p:sp>
        <p:nvSpPr>
          <p:cNvPr id="8" name="Text 5"/>
          <p:cNvSpPr txBox="1"/>
          <p:nvPr/>
        </p:nvSpPr>
        <p:spPr>
          <a:xfrm>
            <a:off x="9966960" y="1965960"/>
            <a:ext cx="1554480" cy="365760"/>
          </a:xfrm>
          <a:prstGeom prst="rect">
            <a:avLst/>
          </a:prstGeom>
          <a:noFill/>
          <a:ln/>
        </p:spPr>
        <p:txBody>
          <a:bodyPr wrap="square" lIns="0" tIns="0" rIns="0" bIns="0" rtlCol="0" anchor="ctr"/>
          <a:lstStyle/>
          <a:p>
            <a:pPr algn="r" indent="0" marL="0">
              <a:buNone/>
            </a:pPr>
            <a:r>
              <a:rPr lang="en-US" sz="1400" b="1" dirty="0">
                <a:solidFill>
                  <a:srgbClr val="1E2761"/>
                </a:solidFill>
                <a:latin typeface="Calibri" pitchFamily="34" charset="0"/>
                <a:ea typeface="Calibri" pitchFamily="34" charset="-122"/>
                <a:cs typeface="Calibri" pitchFamily="34" charset="-120"/>
              </a:rPr>
              <a:t>1.5 min</a:t>
            </a:r>
            <a:endParaRPr lang="en-US" sz="1400" dirty="0"/>
          </a:p>
        </p:txBody>
      </p:sp>
      <p:sp>
        <p:nvSpPr>
          <p:cNvPr id="9" name="Shape 6"/>
          <p:cNvSpPr/>
          <p:nvPr/>
        </p:nvSpPr>
        <p:spPr>
          <a:xfrm>
            <a:off x="640080" y="2642616"/>
            <a:ext cx="10881360" cy="0"/>
          </a:xfrm>
          <a:prstGeom prst="line">
            <a:avLst/>
          </a:prstGeom>
          <a:noFill/>
          <a:ln w="12700">
            <a:solidFill>
              <a:srgbClr val="CADCFC"/>
            </a:solidFill>
            <a:prstDash val="solid"/>
          </a:ln>
        </p:spPr>
      </p:sp>
      <p:sp>
        <p:nvSpPr>
          <p:cNvPr id="10" name="Shape 7"/>
          <p:cNvSpPr/>
          <p:nvPr/>
        </p:nvSpPr>
        <p:spPr>
          <a:xfrm>
            <a:off x="640080" y="2715768"/>
            <a:ext cx="603504" cy="603504"/>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718536" y="2794224"/>
            <a:ext cx="446593" cy="446593"/>
          </a:xfrm>
          <a:prstGeom prst="rect">
            <a:avLst/>
          </a:prstGeom>
        </p:spPr>
      </p:pic>
      <p:sp>
        <p:nvSpPr>
          <p:cNvPr id="12" name="Text 8"/>
          <p:cNvSpPr txBox="1"/>
          <p:nvPr/>
        </p:nvSpPr>
        <p:spPr>
          <a:xfrm>
            <a:off x="1463040" y="2688336"/>
            <a:ext cx="694944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Parte 1 — Modelo de propensión</a:t>
            </a:r>
            <a:endParaRPr lang="en-US" sz="1700" dirty="0"/>
          </a:p>
        </p:txBody>
      </p:sp>
      <p:sp>
        <p:nvSpPr>
          <p:cNvPr id="13" name="Text 9"/>
          <p:cNvSpPr txBox="1"/>
          <p:nvPr/>
        </p:nvSpPr>
        <p:spPr>
          <a:xfrm>
            <a:off x="1463040" y="3044952"/>
            <a:ext cx="7223760" cy="320040"/>
          </a:xfrm>
          <a:prstGeom prst="rect">
            <a:avLst/>
          </a:prstGeom>
          <a:noFill/>
          <a:ln/>
        </p:spPr>
        <p:txBody>
          <a:bodyPr wrap="square" lIns="0" tIns="0" rIns="0" bIns="0" rtlCol="0" anchor="ctr"/>
          <a:lstStyle/>
          <a:p>
            <a:pPr indent="0" marL="0">
              <a:buNone/>
            </a:pPr>
            <a:r>
              <a:rPr lang="en-US" sz="1150" i="1" dirty="0">
                <a:solidFill>
                  <a:srgbClr val="5B6B8C"/>
                </a:solidFill>
                <a:latin typeface="Calibri" pitchFamily="34" charset="0"/>
                <a:ea typeface="Calibri" pitchFamily="34" charset="-122"/>
                <a:cs typeface="Calibri" pitchFamily="34" charset="-120"/>
              </a:rPr>
              <a:t>Metodología, decisión clave sobre variables y resultado</a:t>
            </a:r>
            <a:endParaRPr lang="en-US" sz="1150" dirty="0"/>
          </a:p>
        </p:txBody>
      </p:sp>
      <p:sp>
        <p:nvSpPr>
          <p:cNvPr id="14" name="Text 10"/>
          <p:cNvSpPr txBox="1"/>
          <p:nvPr/>
        </p:nvSpPr>
        <p:spPr>
          <a:xfrm>
            <a:off x="9966960" y="2807208"/>
            <a:ext cx="1554480" cy="365760"/>
          </a:xfrm>
          <a:prstGeom prst="rect">
            <a:avLst/>
          </a:prstGeom>
          <a:noFill/>
          <a:ln/>
        </p:spPr>
        <p:txBody>
          <a:bodyPr wrap="square" lIns="0" tIns="0" rIns="0" bIns="0" rtlCol="0" anchor="ctr"/>
          <a:lstStyle/>
          <a:p>
            <a:pPr algn="r" indent="0" marL="0">
              <a:buNone/>
            </a:pPr>
            <a:r>
              <a:rPr lang="en-US" sz="1400" b="1" dirty="0">
                <a:solidFill>
                  <a:srgbClr val="1E2761"/>
                </a:solidFill>
                <a:latin typeface="Calibri" pitchFamily="34" charset="0"/>
                <a:ea typeface="Calibri" pitchFamily="34" charset="-122"/>
                <a:cs typeface="Calibri" pitchFamily="34" charset="-120"/>
              </a:rPr>
              <a:t>3 min</a:t>
            </a:r>
            <a:endParaRPr lang="en-US" sz="1400" dirty="0"/>
          </a:p>
        </p:txBody>
      </p:sp>
      <p:sp>
        <p:nvSpPr>
          <p:cNvPr id="15" name="Shape 11"/>
          <p:cNvSpPr/>
          <p:nvPr/>
        </p:nvSpPr>
        <p:spPr>
          <a:xfrm>
            <a:off x="640080" y="3483864"/>
            <a:ext cx="10881360" cy="0"/>
          </a:xfrm>
          <a:prstGeom prst="line">
            <a:avLst/>
          </a:prstGeom>
          <a:noFill/>
          <a:ln w="12700">
            <a:solidFill>
              <a:srgbClr val="CADCFC"/>
            </a:solidFill>
            <a:prstDash val="solid"/>
          </a:ln>
        </p:spPr>
      </p:sp>
      <p:sp>
        <p:nvSpPr>
          <p:cNvPr id="16" name="Shape 12"/>
          <p:cNvSpPr/>
          <p:nvPr/>
        </p:nvSpPr>
        <p:spPr>
          <a:xfrm>
            <a:off x="640080" y="3557016"/>
            <a:ext cx="603504" cy="603504"/>
          </a:xfrm>
          <a:prstGeom prst="ellipse">
            <a:avLst/>
          </a:prstGeom>
          <a:solidFill>
            <a:srgbClr val="1E2761"/>
          </a:solidFill>
          <a:ln/>
        </p:spPr>
      </p:sp>
      <p:pic>
        <p:nvPicPr>
          <p:cNvPr id="17" name="Image 2" descr="preencoded.png">    </p:cNvPr>
          <p:cNvPicPr>
            <a:picLocks noChangeAspect="1"/>
          </p:cNvPicPr>
          <p:nvPr/>
        </p:nvPicPr>
        <p:blipFill>
          <a:blip r:embed="rId3"/>
          <a:stretch>
            <a:fillRect/>
          </a:stretch>
        </p:blipFill>
        <p:spPr>
          <a:xfrm>
            <a:off x="718536" y="3635472"/>
            <a:ext cx="446593" cy="446593"/>
          </a:xfrm>
          <a:prstGeom prst="rect">
            <a:avLst/>
          </a:prstGeom>
        </p:spPr>
      </p:pic>
      <p:sp>
        <p:nvSpPr>
          <p:cNvPr id="18" name="Text 13"/>
          <p:cNvSpPr txBox="1"/>
          <p:nvPr/>
        </p:nvSpPr>
        <p:spPr>
          <a:xfrm>
            <a:off x="1463040" y="3529584"/>
            <a:ext cx="694944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Parte 2 — Sistema agéntico</a:t>
            </a:r>
            <a:endParaRPr lang="en-US" sz="1700" dirty="0"/>
          </a:p>
        </p:txBody>
      </p:sp>
      <p:sp>
        <p:nvSpPr>
          <p:cNvPr id="19" name="Text 14"/>
          <p:cNvSpPr txBox="1"/>
          <p:nvPr/>
        </p:nvSpPr>
        <p:spPr>
          <a:xfrm>
            <a:off x="1463040" y="3886200"/>
            <a:ext cx="7223760" cy="320040"/>
          </a:xfrm>
          <a:prstGeom prst="rect">
            <a:avLst/>
          </a:prstGeom>
          <a:noFill/>
          <a:ln/>
        </p:spPr>
        <p:txBody>
          <a:bodyPr wrap="square" lIns="0" tIns="0" rIns="0" bIns="0" rtlCol="0" anchor="ctr"/>
          <a:lstStyle/>
          <a:p>
            <a:pPr indent="0" marL="0">
              <a:buNone/>
            </a:pPr>
            <a:r>
              <a:rPr lang="en-US" sz="1150" i="1" dirty="0">
                <a:solidFill>
                  <a:srgbClr val="5B6B8C"/>
                </a:solidFill>
                <a:latin typeface="Calibri" pitchFamily="34" charset="0"/>
                <a:ea typeface="Calibri" pitchFamily="34" charset="-122"/>
                <a:cs typeface="Calibri" pitchFamily="34" charset="-120"/>
              </a:rPr>
              <a:t>Arquitectura, reglas de negocio, pruebas y límites</a:t>
            </a:r>
            <a:endParaRPr lang="en-US" sz="1150" dirty="0"/>
          </a:p>
        </p:txBody>
      </p:sp>
      <p:sp>
        <p:nvSpPr>
          <p:cNvPr id="20" name="Text 15"/>
          <p:cNvSpPr txBox="1"/>
          <p:nvPr/>
        </p:nvSpPr>
        <p:spPr>
          <a:xfrm>
            <a:off x="9966960" y="3648456"/>
            <a:ext cx="1554480" cy="365760"/>
          </a:xfrm>
          <a:prstGeom prst="rect">
            <a:avLst/>
          </a:prstGeom>
          <a:noFill/>
          <a:ln/>
        </p:spPr>
        <p:txBody>
          <a:bodyPr wrap="square" lIns="0" tIns="0" rIns="0" bIns="0" rtlCol="0" anchor="ctr"/>
          <a:lstStyle/>
          <a:p>
            <a:pPr algn="r" indent="0" marL="0">
              <a:buNone/>
            </a:pPr>
            <a:r>
              <a:rPr lang="en-US" sz="1400" b="1" dirty="0">
                <a:solidFill>
                  <a:srgbClr val="1E2761"/>
                </a:solidFill>
                <a:latin typeface="Calibri" pitchFamily="34" charset="0"/>
                <a:ea typeface="Calibri" pitchFamily="34" charset="-122"/>
                <a:cs typeface="Calibri" pitchFamily="34" charset="-120"/>
              </a:rPr>
              <a:t>4 min</a:t>
            </a:r>
            <a:endParaRPr lang="en-US" sz="1400" dirty="0"/>
          </a:p>
        </p:txBody>
      </p:sp>
      <p:sp>
        <p:nvSpPr>
          <p:cNvPr id="21" name="Shape 16"/>
          <p:cNvSpPr/>
          <p:nvPr/>
        </p:nvSpPr>
        <p:spPr>
          <a:xfrm>
            <a:off x="640080" y="4325112"/>
            <a:ext cx="10881360" cy="0"/>
          </a:xfrm>
          <a:prstGeom prst="line">
            <a:avLst/>
          </a:prstGeom>
          <a:noFill/>
          <a:ln w="12700">
            <a:solidFill>
              <a:srgbClr val="CADCFC"/>
            </a:solidFill>
            <a:prstDash val="solid"/>
          </a:ln>
        </p:spPr>
      </p:sp>
      <p:sp>
        <p:nvSpPr>
          <p:cNvPr id="22" name="Shape 17"/>
          <p:cNvSpPr/>
          <p:nvPr/>
        </p:nvSpPr>
        <p:spPr>
          <a:xfrm>
            <a:off x="640080" y="4398264"/>
            <a:ext cx="603504" cy="603504"/>
          </a:xfrm>
          <a:prstGeom prst="ellipse">
            <a:avLst/>
          </a:prstGeom>
          <a:solidFill>
            <a:srgbClr val="1E2761"/>
          </a:solidFill>
          <a:ln/>
        </p:spPr>
      </p:sp>
      <p:pic>
        <p:nvPicPr>
          <p:cNvPr id="23" name="Image 3" descr="preencoded.png">    </p:cNvPr>
          <p:cNvPicPr>
            <a:picLocks noChangeAspect="1"/>
          </p:cNvPicPr>
          <p:nvPr/>
        </p:nvPicPr>
        <p:blipFill>
          <a:blip r:embed="rId4"/>
          <a:stretch>
            <a:fillRect/>
          </a:stretch>
        </p:blipFill>
        <p:spPr>
          <a:xfrm>
            <a:off x="718536" y="4476720"/>
            <a:ext cx="446593" cy="446593"/>
          </a:xfrm>
          <a:prstGeom prst="rect">
            <a:avLst/>
          </a:prstGeom>
        </p:spPr>
      </p:pic>
      <p:sp>
        <p:nvSpPr>
          <p:cNvPr id="24" name="Text 18"/>
          <p:cNvSpPr txBox="1"/>
          <p:nvPr/>
        </p:nvSpPr>
        <p:spPr>
          <a:xfrm>
            <a:off x="1463040" y="4370832"/>
            <a:ext cx="694944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Producción y próximos pasos</a:t>
            </a:r>
            <a:endParaRPr lang="en-US" sz="1700" dirty="0"/>
          </a:p>
        </p:txBody>
      </p:sp>
      <p:sp>
        <p:nvSpPr>
          <p:cNvPr id="25" name="Text 19"/>
          <p:cNvSpPr txBox="1"/>
          <p:nvPr/>
        </p:nvSpPr>
        <p:spPr>
          <a:xfrm>
            <a:off x="1463040" y="4727448"/>
            <a:ext cx="7223760" cy="320040"/>
          </a:xfrm>
          <a:prstGeom prst="rect">
            <a:avLst/>
          </a:prstGeom>
          <a:noFill/>
          <a:ln/>
        </p:spPr>
        <p:txBody>
          <a:bodyPr wrap="square" lIns="0" tIns="0" rIns="0" bIns="0" rtlCol="0" anchor="ctr"/>
          <a:lstStyle/>
          <a:p>
            <a:pPr indent="0" marL="0">
              <a:buNone/>
            </a:pPr>
            <a:r>
              <a:rPr lang="en-US" sz="1150" i="1" dirty="0">
                <a:solidFill>
                  <a:srgbClr val="5B6B8C"/>
                </a:solidFill>
                <a:latin typeface="Calibri" pitchFamily="34" charset="0"/>
                <a:ea typeface="Calibri" pitchFamily="34" charset="-122"/>
                <a:cs typeface="Calibri" pitchFamily="34" charset="-120"/>
              </a:rPr>
              <a:t>De prototipo a operación monitoreada</a:t>
            </a:r>
            <a:endParaRPr lang="en-US" sz="1150" dirty="0"/>
          </a:p>
        </p:txBody>
      </p:sp>
      <p:sp>
        <p:nvSpPr>
          <p:cNvPr id="26" name="Text 20"/>
          <p:cNvSpPr txBox="1"/>
          <p:nvPr/>
        </p:nvSpPr>
        <p:spPr>
          <a:xfrm>
            <a:off x="9966960" y="4489704"/>
            <a:ext cx="1554480" cy="365760"/>
          </a:xfrm>
          <a:prstGeom prst="rect">
            <a:avLst/>
          </a:prstGeom>
          <a:noFill/>
          <a:ln/>
        </p:spPr>
        <p:txBody>
          <a:bodyPr wrap="square" lIns="0" tIns="0" rIns="0" bIns="0" rtlCol="0" anchor="ctr"/>
          <a:lstStyle/>
          <a:p>
            <a:pPr algn="r" indent="0" marL="0">
              <a:buNone/>
            </a:pPr>
            <a:r>
              <a:rPr lang="en-US" sz="1400" b="1" dirty="0">
                <a:solidFill>
                  <a:srgbClr val="1E2761"/>
                </a:solidFill>
                <a:latin typeface="Calibri" pitchFamily="34" charset="0"/>
                <a:ea typeface="Calibri" pitchFamily="34" charset="-122"/>
                <a:cs typeface="Calibri" pitchFamily="34" charset="-120"/>
              </a:rPr>
              <a:t>1.5 min</a:t>
            </a:r>
            <a:endParaRPr lang="en-US" sz="1400" dirty="0"/>
          </a:p>
        </p:txBody>
      </p:sp>
      <p:sp>
        <p:nvSpPr>
          <p:cNvPr id="27" name="Shape 21"/>
          <p:cNvSpPr/>
          <p:nvPr/>
        </p:nvSpPr>
        <p:spPr>
          <a:xfrm>
            <a:off x="640080" y="5166360"/>
            <a:ext cx="10881360" cy="0"/>
          </a:xfrm>
          <a:prstGeom prst="line">
            <a:avLst/>
          </a:prstGeom>
          <a:noFill/>
          <a:ln w="12700">
            <a:solidFill>
              <a:srgbClr val="CADCFC"/>
            </a:solidFill>
            <a:prstDash val="solid"/>
          </a:ln>
        </p:spPr>
      </p:sp>
      <p:sp>
        <p:nvSpPr>
          <p:cNvPr id="28" name="Shape 22"/>
          <p:cNvSpPr/>
          <p:nvPr/>
        </p:nvSpPr>
        <p:spPr>
          <a:xfrm>
            <a:off x="640080" y="5239512"/>
            <a:ext cx="603504" cy="603504"/>
          </a:xfrm>
          <a:prstGeom prst="ellipse">
            <a:avLst/>
          </a:prstGeom>
          <a:solidFill>
            <a:srgbClr val="E8A33D"/>
          </a:solidFill>
          <a:ln/>
        </p:spPr>
      </p:sp>
      <p:pic>
        <p:nvPicPr>
          <p:cNvPr id="29" name="Image 4" descr="preencoded.png">    </p:cNvPr>
          <p:cNvPicPr>
            <a:picLocks noChangeAspect="1"/>
          </p:cNvPicPr>
          <p:nvPr/>
        </p:nvPicPr>
        <p:blipFill>
          <a:blip r:embed="rId5"/>
          <a:stretch>
            <a:fillRect/>
          </a:stretch>
        </p:blipFill>
        <p:spPr>
          <a:xfrm>
            <a:off x="718536" y="5317968"/>
            <a:ext cx="446593" cy="446593"/>
          </a:xfrm>
          <a:prstGeom prst="rect">
            <a:avLst/>
          </a:prstGeom>
        </p:spPr>
      </p:pic>
      <p:sp>
        <p:nvSpPr>
          <p:cNvPr id="30" name="Text 23"/>
          <p:cNvSpPr txBox="1"/>
          <p:nvPr/>
        </p:nvSpPr>
        <p:spPr>
          <a:xfrm>
            <a:off x="1463040" y="5212080"/>
            <a:ext cx="694944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Bloque ejecutivo (no técnico)</a:t>
            </a:r>
            <a:endParaRPr lang="en-US" sz="1700" dirty="0"/>
          </a:p>
        </p:txBody>
      </p:sp>
      <p:sp>
        <p:nvSpPr>
          <p:cNvPr id="31" name="Text 24"/>
          <p:cNvSpPr txBox="1"/>
          <p:nvPr/>
        </p:nvSpPr>
        <p:spPr>
          <a:xfrm>
            <a:off x="1463040" y="5568696"/>
            <a:ext cx="7223760" cy="320040"/>
          </a:xfrm>
          <a:prstGeom prst="rect">
            <a:avLst/>
          </a:prstGeom>
          <a:noFill/>
          <a:ln/>
        </p:spPr>
        <p:txBody>
          <a:bodyPr wrap="square" lIns="0" tIns="0" rIns="0" bIns="0" rtlCol="0" anchor="ctr"/>
          <a:lstStyle/>
          <a:p>
            <a:pPr indent="0" marL="0">
              <a:buNone/>
            </a:pPr>
            <a:r>
              <a:rPr lang="en-US" sz="1150" i="1" dirty="0">
                <a:solidFill>
                  <a:srgbClr val="5B6B8C"/>
                </a:solidFill>
                <a:latin typeface="Calibri" pitchFamily="34" charset="0"/>
                <a:ea typeface="Calibri" pitchFamily="34" charset="-122"/>
                <a:cs typeface="Calibri" pitchFamily="34" charset="-120"/>
              </a:rPr>
              <a:t>Impacto de negocio, riesgos y pedido de aprobación</a:t>
            </a:r>
            <a:endParaRPr lang="en-US" sz="1150" dirty="0"/>
          </a:p>
        </p:txBody>
      </p:sp>
      <p:sp>
        <p:nvSpPr>
          <p:cNvPr id="32" name="Text 25"/>
          <p:cNvSpPr txBox="1"/>
          <p:nvPr/>
        </p:nvSpPr>
        <p:spPr>
          <a:xfrm>
            <a:off x="9966960" y="5330952"/>
            <a:ext cx="1554480" cy="365760"/>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5 min</a:t>
            </a:r>
            <a:endParaRPr lang="en-US" sz="1400" dirty="0"/>
          </a:p>
        </p:txBody>
      </p:sp>
      <p:sp>
        <p:nvSpPr>
          <p:cNvPr id="33" name="Text 26"/>
          <p:cNvSpPr txBox="1"/>
          <p:nvPr/>
        </p:nvSpPr>
        <p:spPr>
          <a:xfrm>
            <a:off x="11365992" y="6355080"/>
            <a:ext cx="457200" cy="32004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1. CONTEXTO Y OBJETIVO · 1.5 MIN</a:t>
            </a:r>
            <a:endParaRPr lang="en-US" sz="1200" dirty="0"/>
          </a:p>
        </p:txBody>
      </p:sp>
      <p:sp>
        <p:nvSpPr>
          <p:cNvPr id="3" name="Text 1"/>
          <p:cNvSpPr txBox="1"/>
          <p:nvPr/>
        </p:nvSpPr>
        <p:spPr>
          <a:xfrm>
            <a:off x="548640" y="713232"/>
            <a:ext cx="1078992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 priorizar por exposición a priorizar por propensión</a:t>
            </a:r>
            <a:endParaRPr lang="en-US" sz="3200" dirty="0"/>
          </a:p>
        </p:txBody>
      </p:sp>
      <p:sp>
        <p:nvSpPr>
          <p:cNvPr id="4" name="Shape 2"/>
          <p:cNvSpPr/>
          <p:nvPr/>
        </p:nvSpPr>
        <p:spPr>
          <a:xfrm>
            <a:off x="548640" y="1965960"/>
            <a:ext cx="5394960" cy="3977640"/>
          </a:xfrm>
          <a:prstGeom prst="roundRect">
            <a:avLst>
              <a:gd name="adj" fmla="val 2759"/>
            </a:avLst>
          </a:prstGeom>
          <a:solidFill>
            <a:srgbClr val="EEF2FB"/>
          </a:solidFill>
          <a:ln/>
        </p:spPr>
      </p:sp>
      <p:sp>
        <p:nvSpPr>
          <p:cNvPr id="5" name="Text 3"/>
          <p:cNvSpPr txBox="1"/>
          <p:nvPr/>
        </p:nvSpPr>
        <p:spPr>
          <a:xfrm>
            <a:off x="868680" y="2194560"/>
            <a:ext cx="4572000" cy="365760"/>
          </a:xfrm>
          <a:prstGeom prst="rect">
            <a:avLst/>
          </a:prstGeom>
          <a:noFill/>
          <a:ln/>
        </p:spPr>
        <p:txBody>
          <a:bodyPr wrap="square" lIns="0" tIns="0" rIns="0" bIns="0" rtlCol="0" anchor="ctr"/>
          <a:lstStyle/>
          <a:p>
            <a:pPr indent="0" marL="0">
              <a:buNone/>
            </a:pPr>
            <a:r>
              <a:rPr lang="en-US" sz="1600" b="1" dirty="0">
                <a:solidFill>
                  <a:srgbClr val="5B6B8C"/>
                </a:solidFill>
                <a:latin typeface="Cambria" pitchFamily="34" charset="0"/>
                <a:ea typeface="Cambria" pitchFamily="34" charset="-122"/>
                <a:cs typeface="Cambria" pitchFamily="34" charset="-120"/>
              </a:rPr>
              <a:t>Hoy</a:t>
            </a:r>
            <a:endParaRPr lang="en-US" sz="1600" dirty="0"/>
          </a:p>
        </p:txBody>
      </p:sp>
      <p:sp>
        <p:nvSpPr>
          <p:cNvPr id="6" name="Text 4"/>
          <p:cNvSpPr txBox="1"/>
          <p:nvPr/>
        </p:nvSpPr>
        <p:spPr>
          <a:xfrm>
            <a:off x="868680" y="2606040"/>
            <a:ext cx="4754880" cy="2926080"/>
          </a:xfrm>
          <a:prstGeom prst="rect">
            <a:avLst/>
          </a:prstGeom>
          <a:noFill/>
          <a:ln/>
        </p:spPr>
        <p:txBody>
          <a:bodyPr wrap="square" lIns="0" tIns="0" rIns="0" bIns="0" rtlCol="0" anchor="t"/>
          <a:lstStyle/>
          <a:p>
            <a:pPr indent="0" marL="0">
              <a:lnSpc>
                <a:spcPct val="125000"/>
              </a:lnSpc>
              <a:buNone/>
            </a:pPr>
            <a:r>
              <a:rPr lang="en-US" sz="1400" dirty="0">
                <a:solidFill>
                  <a:srgbClr val="1E2761"/>
                </a:solidFill>
                <a:latin typeface="Calibri" pitchFamily="34" charset="0"/>
                <a:ea typeface="Calibri" pitchFamily="34" charset="-122"/>
                <a:cs typeface="Calibri" pitchFamily="34" charset="-120"/>
              </a:rPr>
              <a:t>La cartera en mora se gestiona priorizando principalmente por monto de exposición. Las opciones de pago y los acuerdos son las palancas disponibles, pero se ofrecen sin saber de antemano qué tan receptivo será cada cliente.</a:t>
            </a:r>
            <a:endParaRPr lang="en-US" sz="1400" dirty="0"/>
          </a:p>
        </p:txBody>
      </p:sp>
      <p:sp>
        <p:nvSpPr>
          <p:cNvPr id="7" name="Shape 5"/>
          <p:cNvSpPr/>
          <p:nvPr/>
        </p:nvSpPr>
        <p:spPr>
          <a:xfrm>
            <a:off x="6245352" y="1965960"/>
            <a:ext cx="5394960" cy="3977640"/>
          </a:xfrm>
          <a:prstGeom prst="roundRect">
            <a:avLst>
              <a:gd name="adj" fmla="val 2759"/>
            </a:avLst>
          </a:prstGeom>
          <a:solidFill>
            <a:srgbClr val="1E2761"/>
          </a:solidFill>
          <a:ln/>
        </p:spPr>
      </p:sp>
      <p:sp>
        <p:nvSpPr>
          <p:cNvPr id="8" name="Text 6"/>
          <p:cNvSpPr txBox="1"/>
          <p:nvPr/>
        </p:nvSpPr>
        <p:spPr>
          <a:xfrm>
            <a:off x="6565392" y="2194560"/>
            <a:ext cx="4572000" cy="3657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Con este proyecto</a:t>
            </a:r>
            <a:endParaRPr lang="en-US" sz="1600" dirty="0"/>
          </a:p>
        </p:txBody>
      </p:sp>
      <p:sp>
        <p:nvSpPr>
          <p:cNvPr id="9" name="Text 7"/>
          <p:cNvSpPr txBox="1"/>
          <p:nvPr/>
        </p:nvSpPr>
        <p:spPr>
          <a:xfrm>
            <a:off x="6565392" y="2606040"/>
            <a:ext cx="4754880" cy="2926080"/>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Un modelo anticipa, con un mes de antelación, la probabilidad de que cada cliente acepte una opción de pago. Un sistema agéntico automatiza el ofrecimiento de esa opción, respetando siempre las reglas de negocio vigentes.</a:t>
            </a:r>
            <a:endParaRPr lang="en-US" sz="1400" dirty="0"/>
          </a:p>
        </p:txBody>
      </p:sp>
      <p:sp>
        <p:nvSpPr>
          <p:cNvPr id="10" name="Text 8"/>
          <p:cNvSpPr txBox="1"/>
          <p:nvPr/>
        </p:nvSpPr>
        <p:spPr>
          <a:xfrm>
            <a:off x="11365992" y="6355080"/>
            <a:ext cx="457200" cy="32004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2. PARTE 1 — MODELO DE PROPENSIÓN · 3 MIN</a:t>
            </a:r>
            <a:endParaRPr lang="en-US" sz="1200" dirty="0"/>
          </a:p>
        </p:txBody>
      </p:sp>
      <p:sp>
        <p:nvSpPr>
          <p:cNvPr id="3" name="Text 1"/>
          <p:cNvSpPr txBox="1"/>
          <p:nvPr/>
        </p:nvSpPr>
        <p:spPr>
          <a:xfrm>
            <a:off x="548640" y="713232"/>
            <a:ext cx="1078992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Datos y la decisión clave sobre variables</a:t>
            </a:r>
            <a:endParaRPr lang="en-US" sz="3200" dirty="0"/>
          </a:p>
        </p:txBody>
      </p:sp>
      <p:sp>
        <p:nvSpPr>
          <p:cNvPr id="4" name="Shape 2"/>
          <p:cNvSpPr/>
          <p:nvPr/>
        </p:nvSpPr>
        <p:spPr>
          <a:xfrm>
            <a:off x="548640" y="1965960"/>
            <a:ext cx="3456432" cy="3246120"/>
          </a:xfrm>
          <a:prstGeom prst="roundRect">
            <a:avLst>
              <a:gd name="adj" fmla="val 2817"/>
            </a:avLst>
          </a:prstGeom>
          <a:solidFill>
            <a:srgbClr val="EEF2FB"/>
          </a:solidFill>
          <a:ln/>
        </p:spPr>
      </p:sp>
      <p:sp>
        <p:nvSpPr>
          <p:cNvPr id="5" name="Shape 3"/>
          <p:cNvSpPr/>
          <p:nvPr/>
        </p:nvSpPr>
        <p:spPr>
          <a:xfrm>
            <a:off x="822960" y="2240280"/>
            <a:ext cx="658368" cy="658368"/>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08548" y="2325868"/>
            <a:ext cx="487192" cy="487192"/>
          </a:xfrm>
          <a:prstGeom prst="rect">
            <a:avLst/>
          </a:prstGeom>
        </p:spPr>
      </p:pic>
      <p:sp>
        <p:nvSpPr>
          <p:cNvPr id="7" name="Text 4"/>
          <p:cNvSpPr txBox="1"/>
          <p:nvPr/>
        </p:nvSpPr>
        <p:spPr>
          <a:xfrm>
            <a:off x="822960" y="3063240"/>
            <a:ext cx="2907792" cy="685800"/>
          </a:xfrm>
          <a:prstGeom prst="rect">
            <a:avLst/>
          </a:prstGeom>
          <a:noFill/>
          <a:ln/>
        </p:spPr>
        <p:txBody>
          <a:bodyPr wrap="square" lIns="0" tIns="0" rIns="0" bIns="0" rtlCol="0" anchor="ctr"/>
          <a:lstStyle/>
          <a:p>
            <a:pPr indent="0" marL="0">
              <a:lnSpc>
                <a:spcPct val="110000"/>
              </a:lnSpc>
              <a:buNone/>
            </a:pPr>
            <a:r>
              <a:rPr lang="en-US" sz="1550" b="1" dirty="0">
                <a:solidFill>
                  <a:srgbClr val="1E2761"/>
                </a:solidFill>
                <a:latin typeface="Cambria" pitchFamily="34" charset="0"/>
                <a:ea typeface="Cambria" pitchFamily="34" charset="-122"/>
                <a:cs typeface="Cambria" pitchFamily="34" charset="-120"/>
              </a:rPr>
              <a:t>4 tablas de origen</a:t>
            </a:r>
            <a:endParaRPr lang="en-US" sz="1550" dirty="0"/>
          </a:p>
        </p:txBody>
      </p:sp>
      <p:sp>
        <p:nvSpPr>
          <p:cNvPr id="8" name="Text 5"/>
          <p:cNvSpPr txBox="1"/>
          <p:nvPr/>
        </p:nvSpPr>
        <p:spPr>
          <a:xfrm>
            <a:off x="822960" y="3794760"/>
            <a:ext cx="2907792" cy="1325880"/>
          </a:xfrm>
          <a:prstGeom prst="rect">
            <a:avLst/>
          </a:prstGeom>
          <a:noFill/>
          <a:ln/>
        </p:spPr>
        <p:txBody>
          <a:bodyPr wrap="square" lIns="0" tIns="0" rIns="0" bIns="0" rtlCol="0" anchor="t"/>
          <a:lstStyle/>
          <a:p>
            <a:pPr indent="0" marL="0">
              <a:lnSpc>
                <a:spcPct val="125000"/>
              </a:lnSpc>
              <a:buNone/>
            </a:pPr>
            <a:r>
              <a:rPr lang="en-US" sz="1250" dirty="0">
                <a:solidFill>
                  <a:srgbClr val="5B6B8C"/>
                </a:solidFill>
                <a:latin typeface="Calibri" pitchFamily="34" charset="0"/>
                <a:ea typeface="Calibri" pitchFamily="34" charset="-122"/>
                <a:cs typeface="Calibri" pitchFamily="34" charset="-120"/>
              </a:rPr>
              <a:t>≈570K obligaciones-mes, target balanceado</a:t>
            </a:r>
            <a:endParaRPr lang="en-US" sz="1250" dirty="0"/>
          </a:p>
        </p:txBody>
      </p:sp>
      <p:sp>
        <p:nvSpPr>
          <p:cNvPr id="9" name="Shape 6"/>
          <p:cNvSpPr/>
          <p:nvPr/>
        </p:nvSpPr>
        <p:spPr>
          <a:xfrm>
            <a:off x="4325112" y="1965960"/>
            <a:ext cx="3456432" cy="3246120"/>
          </a:xfrm>
          <a:prstGeom prst="roundRect">
            <a:avLst>
              <a:gd name="adj" fmla="val 2817"/>
            </a:avLst>
          </a:prstGeom>
          <a:solidFill>
            <a:srgbClr val="EEF2FB"/>
          </a:solidFill>
          <a:ln/>
        </p:spPr>
      </p:sp>
      <p:sp>
        <p:nvSpPr>
          <p:cNvPr id="10" name="Shape 7"/>
          <p:cNvSpPr/>
          <p:nvPr/>
        </p:nvSpPr>
        <p:spPr>
          <a:xfrm>
            <a:off x="4599432" y="2240280"/>
            <a:ext cx="658368" cy="658368"/>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4685020" y="2325868"/>
            <a:ext cx="487192" cy="487192"/>
          </a:xfrm>
          <a:prstGeom prst="rect">
            <a:avLst/>
          </a:prstGeom>
        </p:spPr>
      </p:pic>
      <p:sp>
        <p:nvSpPr>
          <p:cNvPr id="12" name="Text 8"/>
          <p:cNvSpPr txBox="1"/>
          <p:nvPr/>
        </p:nvSpPr>
        <p:spPr>
          <a:xfrm>
            <a:off x="4599432" y="3063240"/>
            <a:ext cx="2907792" cy="685800"/>
          </a:xfrm>
          <a:prstGeom prst="rect">
            <a:avLst/>
          </a:prstGeom>
          <a:noFill/>
          <a:ln/>
        </p:spPr>
        <p:txBody>
          <a:bodyPr wrap="square" lIns="0" tIns="0" rIns="0" bIns="0" rtlCol="0" anchor="ctr"/>
          <a:lstStyle/>
          <a:p>
            <a:pPr indent="0" marL="0">
              <a:lnSpc>
                <a:spcPct val="110000"/>
              </a:lnSpc>
              <a:buNone/>
            </a:pPr>
            <a:r>
              <a:rPr lang="en-US" sz="1550" b="1" dirty="0">
                <a:solidFill>
                  <a:srgbClr val="1E2761"/>
                </a:solidFill>
                <a:latin typeface="Cambria" pitchFamily="34" charset="0"/>
                <a:ea typeface="Cambria" pitchFamily="34" charset="-122"/>
                <a:cs typeface="Cambria" pitchFamily="34" charset="-120"/>
              </a:rPr>
              <a:t>Variables contemporáneas excluidas</a:t>
            </a:r>
            <a:endParaRPr lang="en-US" sz="1550" dirty="0"/>
          </a:p>
        </p:txBody>
      </p:sp>
      <p:sp>
        <p:nvSpPr>
          <p:cNvPr id="13" name="Text 9"/>
          <p:cNvSpPr txBox="1"/>
          <p:nvPr/>
        </p:nvSpPr>
        <p:spPr>
          <a:xfrm>
            <a:off x="4599432" y="3794760"/>
            <a:ext cx="2907792" cy="1325880"/>
          </a:xfrm>
          <a:prstGeom prst="rect">
            <a:avLst/>
          </a:prstGeom>
          <a:noFill/>
          <a:ln/>
        </p:spPr>
        <p:txBody>
          <a:bodyPr wrap="square" lIns="0" tIns="0" rIns="0" bIns="0" rtlCol="0" anchor="t"/>
          <a:lstStyle/>
          <a:p>
            <a:pPr indent="0" marL="0">
              <a:lnSpc>
                <a:spcPct val="125000"/>
              </a:lnSpc>
              <a:buNone/>
            </a:pPr>
            <a:r>
              <a:rPr lang="en-US" sz="1250" dirty="0">
                <a:solidFill>
                  <a:srgbClr val="5B6B8C"/>
                </a:solidFill>
                <a:latin typeface="Calibri" pitchFamily="34" charset="0"/>
                <a:ea typeface="Calibri" pitchFamily="34" charset="-122"/>
                <a:cs typeface="Calibri" pitchFamily="34" charset="-120"/>
              </a:rPr>
              <a:t>No están en oot.csv y muestran correlación muy alta con el target del mismo mes</a:t>
            </a:r>
            <a:endParaRPr lang="en-US" sz="1250" dirty="0"/>
          </a:p>
        </p:txBody>
      </p:sp>
      <p:sp>
        <p:nvSpPr>
          <p:cNvPr id="14" name="Shape 10"/>
          <p:cNvSpPr/>
          <p:nvPr/>
        </p:nvSpPr>
        <p:spPr>
          <a:xfrm>
            <a:off x="8101584" y="1965960"/>
            <a:ext cx="3456432" cy="3246120"/>
          </a:xfrm>
          <a:prstGeom prst="roundRect">
            <a:avLst>
              <a:gd name="adj" fmla="val 2817"/>
            </a:avLst>
          </a:prstGeom>
          <a:solidFill>
            <a:srgbClr val="EEF2FB"/>
          </a:solidFill>
          <a:ln/>
        </p:spPr>
      </p:sp>
      <p:sp>
        <p:nvSpPr>
          <p:cNvPr id="15" name="Shape 11"/>
          <p:cNvSpPr/>
          <p:nvPr/>
        </p:nvSpPr>
        <p:spPr>
          <a:xfrm>
            <a:off x="8375904" y="2240280"/>
            <a:ext cx="658368" cy="658368"/>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8461492" y="2325868"/>
            <a:ext cx="487192" cy="487192"/>
          </a:xfrm>
          <a:prstGeom prst="rect">
            <a:avLst/>
          </a:prstGeom>
        </p:spPr>
      </p:pic>
      <p:sp>
        <p:nvSpPr>
          <p:cNvPr id="17" name="Text 12"/>
          <p:cNvSpPr txBox="1"/>
          <p:nvPr/>
        </p:nvSpPr>
        <p:spPr>
          <a:xfrm>
            <a:off x="8375904" y="3063240"/>
            <a:ext cx="2907792" cy="685800"/>
          </a:xfrm>
          <a:prstGeom prst="rect">
            <a:avLst/>
          </a:prstGeom>
          <a:noFill/>
          <a:ln/>
        </p:spPr>
        <p:txBody>
          <a:bodyPr wrap="square" lIns="0" tIns="0" rIns="0" bIns="0" rtlCol="0" anchor="ctr"/>
          <a:lstStyle/>
          <a:p>
            <a:pPr indent="0" marL="0">
              <a:lnSpc>
                <a:spcPct val="110000"/>
              </a:lnSpc>
              <a:buNone/>
            </a:pPr>
            <a:r>
              <a:rPr lang="en-US" sz="1550" b="1" dirty="0">
                <a:solidFill>
                  <a:srgbClr val="1E2761"/>
                </a:solidFill>
                <a:latin typeface="Cambria" pitchFamily="34" charset="0"/>
                <a:ea typeface="Cambria" pitchFamily="34" charset="-122"/>
                <a:cs typeface="Cambria" pitchFamily="34" charset="-120"/>
              </a:rPr>
              <a:t>Validación temporal, no aleatoria</a:t>
            </a:r>
            <a:endParaRPr lang="en-US" sz="1550" dirty="0"/>
          </a:p>
        </p:txBody>
      </p:sp>
      <p:sp>
        <p:nvSpPr>
          <p:cNvPr id="18" name="Text 13"/>
          <p:cNvSpPr txBox="1"/>
          <p:nvPr/>
        </p:nvSpPr>
        <p:spPr>
          <a:xfrm>
            <a:off x="8375904" y="3794760"/>
            <a:ext cx="2907792" cy="1325880"/>
          </a:xfrm>
          <a:prstGeom prst="rect">
            <a:avLst/>
          </a:prstGeom>
          <a:noFill/>
          <a:ln/>
        </p:spPr>
        <p:txBody>
          <a:bodyPr wrap="square" lIns="0" tIns="0" rIns="0" bIns="0" rtlCol="0" anchor="t"/>
          <a:lstStyle/>
          <a:p>
            <a:pPr indent="0" marL="0">
              <a:lnSpc>
                <a:spcPct val="125000"/>
              </a:lnSpc>
              <a:buNone/>
            </a:pPr>
            <a:r>
              <a:rPr lang="en-US" sz="1250" dirty="0">
                <a:solidFill>
                  <a:srgbClr val="5B6B8C"/>
                </a:solidFill>
                <a:latin typeface="Calibri" pitchFamily="34" charset="0"/>
                <a:ea typeface="Calibri" pitchFamily="34" charset="-122"/>
                <a:cs typeface="Calibri" pitchFamily="34" charset="-120"/>
              </a:rPr>
              <a:t>Separación por tiempo real; umbral optimizado a F1</a:t>
            </a:r>
            <a:endParaRPr lang="en-US" sz="1250" dirty="0"/>
          </a:p>
        </p:txBody>
      </p:sp>
      <p:sp>
        <p:nvSpPr>
          <p:cNvPr id="19" name="Text 14"/>
          <p:cNvSpPr txBox="1"/>
          <p:nvPr/>
        </p:nvSpPr>
        <p:spPr>
          <a:xfrm>
            <a:off x="548640" y="5440680"/>
            <a:ext cx="11064240" cy="548640"/>
          </a:xfrm>
          <a:prstGeom prst="rect">
            <a:avLst/>
          </a:prstGeom>
          <a:noFill/>
          <a:ln/>
        </p:spPr>
        <p:txBody>
          <a:bodyPr wrap="square" lIns="0" tIns="0" rIns="0" bIns="0" rtlCol="0" anchor="ctr"/>
          <a:lstStyle/>
          <a:p>
            <a:pPr indent="0" marL="0">
              <a:buNone/>
            </a:pPr>
            <a:r>
              <a:rPr lang="en-US" sz="1350" i="1" dirty="0">
                <a:solidFill>
                  <a:srgbClr val="1E2761"/>
                </a:solidFill>
                <a:latin typeface="Calibri" pitchFamily="34" charset="0"/>
                <a:ea typeface="Calibri" pitchFamily="34" charset="-122"/>
                <a:cs typeface="Calibri" pitchFamily="34" charset="-120"/>
              </a:rPr>
              <a:t>El pipeline se rediseñó para usar solo variables estrictamente “conocidas antes” del mes a predecir.</a:t>
            </a:r>
            <a:endParaRPr lang="en-US" sz="1350" dirty="0"/>
          </a:p>
        </p:txBody>
      </p:sp>
      <p:sp>
        <p:nvSpPr>
          <p:cNvPr id="20" name="Text 15"/>
          <p:cNvSpPr txBox="1"/>
          <p:nvPr/>
        </p:nvSpPr>
        <p:spPr>
          <a:xfrm>
            <a:off x="11365992" y="6355080"/>
            <a:ext cx="457200" cy="32004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2FB"/>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2. PARTE 1 — MODELO DE PROPENSIÓN · 3 MIN</a:t>
            </a:r>
            <a:endParaRPr lang="en-US" sz="1200" dirty="0"/>
          </a:p>
        </p:txBody>
      </p:sp>
      <p:sp>
        <p:nvSpPr>
          <p:cNvPr id="3" name="Text 1"/>
          <p:cNvSpPr txBox="1"/>
          <p:nvPr/>
        </p:nvSpPr>
        <p:spPr>
          <a:xfrm>
            <a:off x="548640" y="713232"/>
            <a:ext cx="1078992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Resultado del modelo y su principal limitación</a:t>
            </a:r>
            <a:endParaRPr lang="en-US" sz="3200" dirty="0"/>
          </a:p>
        </p:txBody>
      </p:sp>
      <p:sp>
        <p:nvSpPr>
          <p:cNvPr id="4" name="Shape 2"/>
          <p:cNvSpPr/>
          <p:nvPr/>
        </p:nvSpPr>
        <p:spPr>
          <a:xfrm>
            <a:off x="548640" y="1920240"/>
            <a:ext cx="2880360" cy="1874520"/>
          </a:xfrm>
          <a:prstGeom prst="roundRect">
            <a:avLst>
              <a:gd name="adj" fmla="val 4878"/>
            </a:avLst>
          </a:prstGeom>
          <a:solidFill>
            <a:srgbClr val="FFFFFF"/>
          </a:solidFill>
          <a:ln/>
        </p:spPr>
      </p:sp>
      <p:sp>
        <p:nvSpPr>
          <p:cNvPr id="5" name="Text 3"/>
          <p:cNvSpPr txBox="1"/>
          <p:nvPr/>
        </p:nvSpPr>
        <p:spPr>
          <a:xfrm>
            <a:off x="548640" y="2084832"/>
            <a:ext cx="2880360" cy="1005840"/>
          </a:xfrm>
          <a:prstGeom prst="rect">
            <a:avLst/>
          </a:prstGeom>
          <a:noFill/>
          <a:ln/>
        </p:spPr>
        <p:txBody>
          <a:bodyPr wrap="square" lIns="0" tIns="0" rIns="0" bIns="0" rtlCol="0" anchor="ctr"/>
          <a:lstStyle/>
          <a:p>
            <a:pPr algn="ctr" indent="0" marL="0">
              <a:buNone/>
            </a:pPr>
            <a:r>
              <a:rPr lang="en-US" sz="4800" b="1" dirty="0">
                <a:solidFill>
                  <a:srgbClr val="E8A33D"/>
                </a:solidFill>
                <a:latin typeface="Cambria" pitchFamily="34" charset="0"/>
                <a:ea typeface="Cambria" pitchFamily="34" charset="-122"/>
                <a:cs typeface="Cambria" pitchFamily="34" charset="-120"/>
              </a:rPr>
              <a:t>0.729</a:t>
            </a:r>
            <a:endParaRPr lang="en-US" sz="4800" dirty="0"/>
          </a:p>
        </p:txBody>
      </p:sp>
      <p:sp>
        <p:nvSpPr>
          <p:cNvPr id="6" name="Text 4"/>
          <p:cNvSpPr txBox="1"/>
          <p:nvPr/>
        </p:nvSpPr>
        <p:spPr>
          <a:xfrm>
            <a:off x="548640" y="3108960"/>
            <a:ext cx="2880360"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AUC</a:t>
            </a:r>
            <a:endParaRPr lang="en-US" sz="1300" dirty="0"/>
          </a:p>
        </p:txBody>
      </p:sp>
      <p:sp>
        <p:nvSpPr>
          <p:cNvPr id="7" name="Shape 5"/>
          <p:cNvSpPr/>
          <p:nvPr/>
        </p:nvSpPr>
        <p:spPr>
          <a:xfrm>
            <a:off x="3749040" y="1920240"/>
            <a:ext cx="2880360" cy="1874520"/>
          </a:xfrm>
          <a:prstGeom prst="roundRect">
            <a:avLst>
              <a:gd name="adj" fmla="val 4878"/>
            </a:avLst>
          </a:prstGeom>
          <a:solidFill>
            <a:srgbClr val="FFFFFF"/>
          </a:solidFill>
          <a:ln/>
        </p:spPr>
      </p:sp>
      <p:sp>
        <p:nvSpPr>
          <p:cNvPr id="8" name="Text 6"/>
          <p:cNvSpPr txBox="1"/>
          <p:nvPr/>
        </p:nvSpPr>
        <p:spPr>
          <a:xfrm>
            <a:off x="3749040" y="2084832"/>
            <a:ext cx="2880360" cy="1005840"/>
          </a:xfrm>
          <a:prstGeom prst="rect">
            <a:avLst/>
          </a:prstGeom>
          <a:noFill/>
          <a:ln/>
        </p:spPr>
        <p:txBody>
          <a:bodyPr wrap="square" lIns="0" tIns="0" rIns="0" bIns="0" rtlCol="0" anchor="ctr"/>
          <a:lstStyle/>
          <a:p>
            <a:pPr algn="ctr" indent="0" marL="0">
              <a:buNone/>
            </a:pPr>
            <a:r>
              <a:rPr lang="en-US" sz="4800" b="1" dirty="0">
                <a:solidFill>
                  <a:srgbClr val="E8A33D"/>
                </a:solidFill>
                <a:latin typeface="Cambria" pitchFamily="34" charset="0"/>
                <a:ea typeface="Cambria" pitchFamily="34" charset="-122"/>
                <a:cs typeface="Cambria" pitchFamily="34" charset="-120"/>
              </a:rPr>
              <a:t>0.671</a:t>
            </a:r>
            <a:endParaRPr lang="en-US" sz="4800" dirty="0"/>
          </a:p>
        </p:txBody>
      </p:sp>
      <p:sp>
        <p:nvSpPr>
          <p:cNvPr id="9" name="Text 7"/>
          <p:cNvSpPr txBox="1"/>
          <p:nvPr/>
        </p:nvSpPr>
        <p:spPr>
          <a:xfrm>
            <a:off x="3749040" y="3108960"/>
            <a:ext cx="2880360"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F1 (umbral optimizado)</a:t>
            </a:r>
            <a:endParaRPr lang="en-US" sz="1300" dirty="0"/>
          </a:p>
        </p:txBody>
      </p:sp>
      <p:sp>
        <p:nvSpPr>
          <p:cNvPr id="10" name="Text 8"/>
          <p:cNvSpPr txBox="1"/>
          <p:nvPr/>
        </p:nvSpPr>
        <p:spPr>
          <a:xfrm>
            <a:off x="548640" y="3977640"/>
            <a:ext cx="6080760" cy="640080"/>
          </a:xfrm>
          <a:prstGeom prst="rect">
            <a:avLst/>
          </a:prstGeom>
          <a:noFill/>
          <a:ln/>
        </p:spPr>
        <p:txBody>
          <a:bodyPr wrap="square" lIns="0" tIns="0" rIns="0" bIns="0" rtlCol="0" anchor="ctr"/>
          <a:lstStyle/>
          <a:p>
            <a:pPr indent="0" marL="0">
              <a:buNone/>
            </a:pPr>
            <a:r>
              <a:rPr lang="en-US" sz="1300" i="1" dirty="0">
                <a:solidFill>
                  <a:srgbClr val="5B6B8C"/>
                </a:solidFill>
                <a:latin typeface="Calibri" pitchFamily="34" charset="0"/>
                <a:ea typeface="Calibri" pitchFamily="34" charset="-122"/>
                <a:cs typeface="Calibri" pitchFamily="34" charset="-120"/>
              </a:rPr>
              <a:t>Integrando historial de pagos, demografía y scores actuales del banco.</a:t>
            </a:r>
            <a:endParaRPr lang="en-US" sz="1300" dirty="0"/>
          </a:p>
        </p:txBody>
      </p:sp>
      <p:sp>
        <p:nvSpPr>
          <p:cNvPr id="11" name="Shape 9"/>
          <p:cNvSpPr/>
          <p:nvPr/>
        </p:nvSpPr>
        <p:spPr>
          <a:xfrm>
            <a:off x="6903720" y="1920240"/>
            <a:ext cx="4736592" cy="2697480"/>
          </a:xfrm>
          <a:prstGeom prst="roundRect">
            <a:avLst>
              <a:gd name="adj" fmla="val 3390"/>
            </a:avLst>
          </a:prstGeom>
          <a:solidFill>
            <a:srgbClr val="1E2761"/>
          </a:solidFill>
          <a:ln/>
        </p:spPr>
      </p:sp>
      <p:sp>
        <p:nvSpPr>
          <p:cNvPr id="12" name="Shape 10"/>
          <p:cNvSpPr/>
          <p:nvPr/>
        </p:nvSpPr>
        <p:spPr>
          <a:xfrm>
            <a:off x="7178040" y="2148840"/>
            <a:ext cx="548640" cy="548640"/>
          </a:xfrm>
          <a:prstGeom prst="ellipse">
            <a:avLst/>
          </a:prstGeom>
          <a:solidFill>
            <a:srgbClr val="141A47"/>
          </a:solidFill>
          <a:ln/>
        </p:spPr>
      </p:sp>
      <p:pic>
        <p:nvPicPr>
          <p:cNvPr id="13" name="Image 0" descr="preencoded.png">    </p:cNvPr>
          <p:cNvPicPr>
            <a:picLocks noChangeAspect="1"/>
          </p:cNvPicPr>
          <p:nvPr/>
        </p:nvPicPr>
        <p:blipFill>
          <a:blip r:embed="rId1"/>
          <a:stretch>
            <a:fillRect/>
          </a:stretch>
        </p:blipFill>
        <p:spPr>
          <a:xfrm>
            <a:off x="7249363" y="2220163"/>
            <a:ext cx="405994" cy="405994"/>
          </a:xfrm>
          <a:prstGeom prst="rect">
            <a:avLst/>
          </a:prstGeom>
        </p:spPr>
      </p:pic>
      <p:sp>
        <p:nvSpPr>
          <p:cNvPr id="14" name="Text 11"/>
          <p:cNvSpPr txBox="1"/>
          <p:nvPr/>
        </p:nvSpPr>
        <p:spPr>
          <a:xfrm>
            <a:off x="7863840" y="2212848"/>
            <a:ext cx="3566160" cy="41148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Principal limitación</a:t>
            </a:r>
            <a:endParaRPr lang="en-US" sz="1500" dirty="0"/>
          </a:p>
        </p:txBody>
      </p:sp>
      <p:sp>
        <p:nvSpPr>
          <p:cNvPr id="15" name="Text 12"/>
          <p:cNvSpPr txBox="1"/>
          <p:nvPr/>
        </p:nvSpPr>
        <p:spPr>
          <a:xfrm>
            <a:off x="7178040" y="2788920"/>
            <a:ext cx="4206240" cy="173736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oot.csv no trae elegibilidad ni producto vigente: cerca de la mitad de las obligaciones de enero-2024 son “cold start” y dependen solo de demografía y scores del banco.</a:t>
            </a:r>
            <a:endParaRPr lang="en-US" sz="1300" dirty="0"/>
          </a:p>
        </p:txBody>
      </p:sp>
      <p:sp>
        <p:nvSpPr>
          <p:cNvPr id="16" name="Shape 13"/>
          <p:cNvSpPr/>
          <p:nvPr/>
        </p:nvSpPr>
        <p:spPr>
          <a:xfrm>
            <a:off x="548640" y="4892040"/>
            <a:ext cx="11064240" cy="0"/>
          </a:xfrm>
          <a:prstGeom prst="line">
            <a:avLst/>
          </a:prstGeom>
          <a:noFill/>
          <a:ln w="19050">
            <a:solidFill>
              <a:srgbClr val="CADCFC"/>
            </a:solidFill>
            <a:prstDash val="solid"/>
          </a:ln>
        </p:spPr>
      </p:sp>
      <p:sp>
        <p:nvSpPr>
          <p:cNvPr id="17" name="Text 14"/>
          <p:cNvSpPr txBox="1"/>
          <p:nvPr/>
        </p:nvSpPr>
        <p:spPr>
          <a:xfrm>
            <a:off x="548640" y="5074920"/>
            <a:ext cx="11064240" cy="548640"/>
          </a:xfrm>
          <a:prstGeom prst="rect">
            <a:avLst/>
          </a:prstGeom>
          <a:noFill/>
          <a:ln/>
        </p:spPr>
        <p:txBody>
          <a:bodyPr wrap="square" lIns="0" tIns="0" rIns="0" bIns="0" rtlCol="0" anchor="ctr"/>
          <a:lstStyle/>
          <a:p>
            <a:pPr indent="0" marL="0">
              <a:buNone/>
            </a:pPr>
            <a:r>
              <a:rPr lang="en-US" sz="1250" i="1" dirty="0">
                <a:solidFill>
                  <a:srgbClr val="5B6B8C"/>
                </a:solidFill>
                <a:latin typeface="Calibri" pitchFamily="34" charset="0"/>
                <a:ea typeface="Calibri" pitchFamily="34" charset="-122"/>
                <a:cs typeface="Calibri" pitchFamily="34" charset="-120"/>
              </a:rPr>
              <a:t>Probar el sistema de punta a punta (no solo cada capa por separado) es lo que reveló esta y otras limitaciones antes de la entrega.</a:t>
            </a:r>
            <a:endParaRPr lang="en-US" sz="1250" dirty="0"/>
          </a:p>
        </p:txBody>
      </p:sp>
      <p:sp>
        <p:nvSpPr>
          <p:cNvPr id="18" name="Text 15"/>
          <p:cNvSpPr txBox="1"/>
          <p:nvPr/>
        </p:nvSpPr>
        <p:spPr>
          <a:xfrm>
            <a:off x="11365992" y="6355080"/>
            <a:ext cx="457200" cy="32004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A47"/>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3. PARTE 2 — SISTEMA AGÉNTICO · 4 MIN</a:t>
            </a:r>
            <a:endParaRPr lang="en-US" sz="1200" dirty="0"/>
          </a:p>
        </p:txBody>
      </p:sp>
      <p:sp>
        <p:nvSpPr>
          <p:cNvPr id="3" name="Text 1"/>
          <p:cNvSpPr txBox="1"/>
          <p:nvPr/>
        </p:nvSpPr>
        <p:spPr>
          <a:xfrm>
            <a:off x="548640" y="713232"/>
            <a:ext cx="107899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Arquitectura supervisor: lineal y auditable</a:t>
            </a:r>
            <a:endParaRPr lang="en-US" sz="3200" dirty="0"/>
          </a:p>
        </p:txBody>
      </p:sp>
      <p:sp>
        <p:nvSpPr>
          <p:cNvPr id="4" name="Shape 2"/>
          <p:cNvSpPr/>
          <p:nvPr/>
        </p:nvSpPr>
        <p:spPr>
          <a:xfrm>
            <a:off x="685800" y="2377440"/>
            <a:ext cx="1874520" cy="2286000"/>
          </a:xfrm>
          <a:prstGeom prst="roundRect">
            <a:avLst>
              <a:gd name="adj" fmla="val 4878"/>
            </a:avLst>
          </a:prstGeom>
          <a:solidFill>
            <a:srgbClr val="1E2761"/>
          </a:solidFill>
          <a:ln w="9525">
            <a:solidFill>
              <a:srgbClr val="CADCFC"/>
            </a:solidFill>
            <a:prstDash val="solid"/>
          </a:ln>
        </p:spPr>
      </p:sp>
      <p:sp>
        <p:nvSpPr>
          <p:cNvPr id="5" name="Shape 3"/>
          <p:cNvSpPr/>
          <p:nvPr/>
        </p:nvSpPr>
        <p:spPr>
          <a:xfrm>
            <a:off x="1257300" y="2633472"/>
            <a:ext cx="731520" cy="731520"/>
          </a:xfrm>
          <a:prstGeom prst="ellipse">
            <a:avLst/>
          </a:prstGeom>
          <a:solidFill>
            <a:srgbClr val="141A47"/>
          </a:solidFill>
          <a:ln/>
        </p:spPr>
      </p:sp>
      <p:pic>
        <p:nvPicPr>
          <p:cNvPr id="6" name="Image 0" descr="preencoded.png">    </p:cNvPr>
          <p:cNvPicPr>
            <a:picLocks noChangeAspect="1"/>
          </p:cNvPicPr>
          <p:nvPr/>
        </p:nvPicPr>
        <p:blipFill>
          <a:blip r:embed="rId1"/>
          <a:stretch>
            <a:fillRect/>
          </a:stretch>
        </p:blipFill>
        <p:spPr>
          <a:xfrm>
            <a:off x="1352398" y="2728570"/>
            <a:ext cx="541325" cy="541325"/>
          </a:xfrm>
          <a:prstGeom prst="rect">
            <a:avLst/>
          </a:prstGeom>
        </p:spPr>
      </p:pic>
      <p:sp>
        <p:nvSpPr>
          <p:cNvPr id="7" name="Text 4"/>
          <p:cNvSpPr txBox="1"/>
          <p:nvPr/>
        </p:nvSpPr>
        <p:spPr>
          <a:xfrm>
            <a:off x="758952" y="3520440"/>
            <a:ext cx="1728216" cy="59436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mbria" pitchFamily="34" charset="0"/>
                <a:ea typeface="Cambria" pitchFamily="34" charset="-122"/>
                <a:cs typeface="Cambria" pitchFamily="34" charset="-120"/>
              </a:rPr>
              <a:t>Reglas de</a:t>
            </a:r>
            <a:endParaRPr lang="en-US" sz="1300" dirty="0"/>
          </a:p>
          <a:p>
            <a:pPr algn="ctr" indent="0" marL="0">
              <a:lnSpc>
                <a:spcPct val="105000"/>
              </a:lnSpc>
              <a:buNone/>
            </a:pPr>
            <a:r>
              <a:rPr lang="en-US" sz="1300" b="1" dirty="0">
                <a:solidFill>
                  <a:srgbClr val="FFFFFF"/>
                </a:solidFill>
                <a:latin typeface="Cambria" pitchFamily="34" charset="0"/>
                <a:ea typeface="Cambria" pitchFamily="34" charset="-122"/>
                <a:cs typeface="Cambria" pitchFamily="34" charset="-120"/>
              </a:rPr>
              <a:t>negocio</a:t>
            </a:r>
            <a:endParaRPr lang="en-US" sz="1300" dirty="0"/>
          </a:p>
        </p:txBody>
      </p:sp>
      <p:sp>
        <p:nvSpPr>
          <p:cNvPr id="8" name="Text 5"/>
          <p:cNvSpPr txBox="1"/>
          <p:nvPr/>
        </p:nvSpPr>
        <p:spPr>
          <a:xfrm>
            <a:off x="758952" y="4133088"/>
            <a:ext cx="1728216" cy="457200"/>
          </a:xfrm>
          <a:prstGeom prst="rect">
            <a:avLst/>
          </a:prstGeom>
          <a:noFill/>
          <a:ln/>
        </p:spPr>
        <p:txBody>
          <a:bodyPr wrap="square" lIns="0" tIns="0" rIns="0" bIns="0"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Determinísticas</a:t>
            </a:r>
            <a:endParaRPr lang="en-US" sz="1000" dirty="0"/>
          </a:p>
        </p:txBody>
      </p:sp>
      <p:sp>
        <p:nvSpPr>
          <p:cNvPr id="9" name="Text 6"/>
          <p:cNvSpPr txBox="1"/>
          <p:nvPr/>
        </p:nvSpPr>
        <p:spPr>
          <a:xfrm>
            <a:off x="2560320" y="3154680"/>
            <a:ext cx="384048" cy="548640"/>
          </a:xfrm>
          <a:prstGeom prst="rect">
            <a:avLst/>
          </a:prstGeom>
          <a:noFill/>
          <a:ln/>
        </p:spPr>
        <p:txBody>
          <a:bodyPr wrap="square" lIns="0" tIns="0" rIns="0" bIns="0" rtlCol="0" anchor="ctr"/>
          <a:lstStyle/>
          <a:p>
            <a:pPr algn="ctr" indent="0" marL="0">
              <a:buNone/>
            </a:pPr>
            <a:r>
              <a:rPr lang="en-US" sz="2200" b="1" dirty="0">
                <a:solidFill>
                  <a:srgbClr val="E8A33D"/>
                </a:solidFill>
                <a:latin typeface="Calibri" pitchFamily="34" charset="0"/>
                <a:ea typeface="Calibri" pitchFamily="34" charset="-122"/>
                <a:cs typeface="Calibri" pitchFamily="34" charset="-120"/>
              </a:rPr>
              <a:t>→</a:t>
            </a:r>
            <a:endParaRPr lang="en-US" sz="2200" dirty="0"/>
          </a:p>
        </p:txBody>
      </p:sp>
      <p:sp>
        <p:nvSpPr>
          <p:cNvPr id="10" name="Shape 7"/>
          <p:cNvSpPr/>
          <p:nvPr/>
        </p:nvSpPr>
        <p:spPr>
          <a:xfrm>
            <a:off x="2944368" y="2377440"/>
            <a:ext cx="1874520" cy="2286000"/>
          </a:xfrm>
          <a:prstGeom prst="roundRect">
            <a:avLst>
              <a:gd name="adj" fmla="val 4878"/>
            </a:avLst>
          </a:prstGeom>
          <a:solidFill>
            <a:srgbClr val="1E2761"/>
          </a:solidFill>
          <a:ln w="9525">
            <a:solidFill>
              <a:srgbClr val="CADCFC"/>
            </a:solidFill>
            <a:prstDash val="solid"/>
          </a:ln>
        </p:spPr>
      </p:sp>
      <p:sp>
        <p:nvSpPr>
          <p:cNvPr id="11" name="Shape 8"/>
          <p:cNvSpPr/>
          <p:nvPr/>
        </p:nvSpPr>
        <p:spPr>
          <a:xfrm>
            <a:off x="3515868" y="2633472"/>
            <a:ext cx="731520" cy="731520"/>
          </a:xfrm>
          <a:prstGeom prst="ellipse">
            <a:avLst/>
          </a:prstGeom>
          <a:solidFill>
            <a:srgbClr val="141A47"/>
          </a:solidFill>
          <a:ln/>
        </p:spPr>
      </p:sp>
      <p:pic>
        <p:nvPicPr>
          <p:cNvPr id="12" name="Image 1" descr="preencoded.png">    </p:cNvPr>
          <p:cNvPicPr>
            <a:picLocks noChangeAspect="1"/>
          </p:cNvPicPr>
          <p:nvPr/>
        </p:nvPicPr>
        <p:blipFill>
          <a:blip r:embed="rId2"/>
          <a:stretch>
            <a:fillRect/>
          </a:stretch>
        </p:blipFill>
        <p:spPr>
          <a:xfrm>
            <a:off x="3610966" y="2728570"/>
            <a:ext cx="541325" cy="541325"/>
          </a:xfrm>
          <a:prstGeom prst="rect">
            <a:avLst/>
          </a:prstGeom>
        </p:spPr>
      </p:pic>
      <p:sp>
        <p:nvSpPr>
          <p:cNvPr id="13" name="Text 9"/>
          <p:cNvSpPr txBox="1"/>
          <p:nvPr/>
        </p:nvSpPr>
        <p:spPr>
          <a:xfrm>
            <a:off x="3017520" y="3520440"/>
            <a:ext cx="1728216" cy="59436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mbria" pitchFamily="34" charset="0"/>
                <a:ea typeface="Cambria" pitchFamily="34" charset="-122"/>
                <a:cs typeface="Cambria" pitchFamily="34" charset="-120"/>
              </a:rPr>
              <a:t>Siguiente</a:t>
            </a:r>
            <a:endParaRPr lang="en-US" sz="1300" dirty="0"/>
          </a:p>
          <a:p>
            <a:pPr algn="ctr" indent="0" marL="0">
              <a:lnSpc>
                <a:spcPct val="105000"/>
              </a:lnSpc>
              <a:buNone/>
            </a:pPr>
            <a:r>
              <a:rPr lang="en-US" sz="1300" b="1" dirty="0">
                <a:solidFill>
                  <a:srgbClr val="FFFFFF"/>
                </a:solidFill>
                <a:latin typeface="Cambria" pitchFamily="34" charset="0"/>
                <a:ea typeface="Cambria" pitchFamily="34" charset="-122"/>
                <a:cs typeface="Cambria" pitchFamily="34" charset="-120"/>
              </a:rPr>
              <a:t>Mejor Acción</a:t>
            </a:r>
            <a:endParaRPr lang="en-US" sz="1300" dirty="0"/>
          </a:p>
        </p:txBody>
      </p:sp>
      <p:sp>
        <p:nvSpPr>
          <p:cNvPr id="14" name="Text 10"/>
          <p:cNvSpPr txBox="1"/>
          <p:nvPr/>
        </p:nvSpPr>
        <p:spPr>
          <a:xfrm>
            <a:off x="3017520" y="4133088"/>
            <a:ext cx="1728216" cy="457200"/>
          </a:xfrm>
          <a:prstGeom prst="rect">
            <a:avLst/>
          </a:prstGeom>
          <a:noFill/>
          <a:ln/>
        </p:spPr>
        <p:txBody>
          <a:bodyPr wrap="square" lIns="0" tIns="0" rIns="0" bIns="0"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Usa el score Parte 1</a:t>
            </a:r>
            <a:endParaRPr lang="en-US" sz="1000" dirty="0"/>
          </a:p>
        </p:txBody>
      </p:sp>
      <p:sp>
        <p:nvSpPr>
          <p:cNvPr id="15" name="Text 11"/>
          <p:cNvSpPr txBox="1"/>
          <p:nvPr/>
        </p:nvSpPr>
        <p:spPr>
          <a:xfrm>
            <a:off x="4818888" y="3154680"/>
            <a:ext cx="384048" cy="548640"/>
          </a:xfrm>
          <a:prstGeom prst="rect">
            <a:avLst/>
          </a:prstGeom>
          <a:noFill/>
          <a:ln/>
        </p:spPr>
        <p:txBody>
          <a:bodyPr wrap="square" lIns="0" tIns="0" rIns="0" bIns="0" rtlCol="0" anchor="ctr"/>
          <a:lstStyle/>
          <a:p>
            <a:pPr algn="ctr" indent="0" marL="0">
              <a:buNone/>
            </a:pPr>
            <a:r>
              <a:rPr lang="en-US" sz="2200" b="1" dirty="0">
                <a:solidFill>
                  <a:srgbClr val="E8A33D"/>
                </a:solidFill>
                <a:latin typeface="Calibri" pitchFamily="34" charset="0"/>
                <a:ea typeface="Calibri" pitchFamily="34" charset="-122"/>
                <a:cs typeface="Calibri" pitchFamily="34" charset="-120"/>
              </a:rPr>
              <a:t>→</a:t>
            </a:r>
            <a:endParaRPr lang="en-US" sz="2200" dirty="0"/>
          </a:p>
        </p:txBody>
      </p:sp>
      <p:sp>
        <p:nvSpPr>
          <p:cNvPr id="16" name="Shape 12"/>
          <p:cNvSpPr/>
          <p:nvPr/>
        </p:nvSpPr>
        <p:spPr>
          <a:xfrm>
            <a:off x="5202936" y="2377440"/>
            <a:ext cx="1874520" cy="2286000"/>
          </a:xfrm>
          <a:prstGeom prst="roundRect">
            <a:avLst>
              <a:gd name="adj" fmla="val 4878"/>
            </a:avLst>
          </a:prstGeom>
          <a:solidFill>
            <a:srgbClr val="1E2761"/>
          </a:solidFill>
          <a:ln w="9525">
            <a:solidFill>
              <a:srgbClr val="CADCFC"/>
            </a:solidFill>
            <a:prstDash val="solid"/>
          </a:ln>
        </p:spPr>
      </p:sp>
      <p:sp>
        <p:nvSpPr>
          <p:cNvPr id="17" name="Shape 13"/>
          <p:cNvSpPr/>
          <p:nvPr/>
        </p:nvSpPr>
        <p:spPr>
          <a:xfrm>
            <a:off x="5774436" y="2633472"/>
            <a:ext cx="731520" cy="731520"/>
          </a:xfrm>
          <a:prstGeom prst="ellipse">
            <a:avLst/>
          </a:prstGeom>
          <a:solidFill>
            <a:srgbClr val="141A47"/>
          </a:solidFill>
          <a:ln/>
        </p:spPr>
      </p:sp>
      <p:pic>
        <p:nvPicPr>
          <p:cNvPr id="18" name="Image 2" descr="preencoded.png">    </p:cNvPr>
          <p:cNvPicPr>
            <a:picLocks noChangeAspect="1"/>
          </p:cNvPicPr>
          <p:nvPr/>
        </p:nvPicPr>
        <p:blipFill>
          <a:blip r:embed="rId3"/>
          <a:stretch>
            <a:fillRect/>
          </a:stretch>
        </p:blipFill>
        <p:spPr>
          <a:xfrm>
            <a:off x="5869534" y="2728570"/>
            <a:ext cx="541325" cy="541325"/>
          </a:xfrm>
          <a:prstGeom prst="rect">
            <a:avLst/>
          </a:prstGeom>
        </p:spPr>
      </p:pic>
      <p:sp>
        <p:nvSpPr>
          <p:cNvPr id="19" name="Text 14"/>
          <p:cNvSpPr txBox="1"/>
          <p:nvPr/>
        </p:nvSpPr>
        <p:spPr>
          <a:xfrm>
            <a:off x="5276088" y="3520440"/>
            <a:ext cx="1728216" cy="59436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mbria" pitchFamily="34" charset="0"/>
                <a:ea typeface="Cambria" pitchFamily="34" charset="-122"/>
                <a:cs typeface="Cambria" pitchFamily="34" charset="-120"/>
              </a:rPr>
              <a:t>Conversa-</a:t>
            </a:r>
            <a:endParaRPr lang="en-US" sz="1300" dirty="0"/>
          </a:p>
          <a:p>
            <a:pPr algn="ctr" indent="0" marL="0">
              <a:lnSpc>
                <a:spcPct val="105000"/>
              </a:lnSpc>
              <a:buNone/>
            </a:pPr>
            <a:r>
              <a:rPr lang="en-US" sz="1300" b="1" dirty="0">
                <a:solidFill>
                  <a:srgbClr val="FFFFFF"/>
                </a:solidFill>
                <a:latin typeface="Cambria" pitchFamily="34" charset="0"/>
                <a:ea typeface="Cambria" pitchFamily="34" charset="-122"/>
                <a:cs typeface="Cambria" pitchFamily="34" charset="-120"/>
              </a:rPr>
              <a:t>cional</a:t>
            </a:r>
            <a:endParaRPr lang="en-US" sz="1300" dirty="0"/>
          </a:p>
        </p:txBody>
      </p:sp>
      <p:sp>
        <p:nvSpPr>
          <p:cNvPr id="20" name="Text 15"/>
          <p:cNvSpPr txBox="1"/>
          <p:nvPr/>
        </p:nvSpPr>
        <p:spPr>
          <a:xfrm>
            <a:off x="5276088" y="4133088"/>
            <a:ext cx="1728216" cy="457200"/>
          </a:xfrm>
          <a:prstGeom prst="rect">
            <a:avLst/>
          </a:prstGeom>
          <a:noFill/>
          <a:ln/>
        </p:spPr>
        <p:txBody>
          <a:bodyPr wrap="square" lIns="0" tIns="0" rIns="0" bIns="0"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Redacta la oferta</a:t>
            </a:r>
            <a:endParaRPr lang="en-US" sz="1000" dirty="0"/>
          </a:p>
        </p:txBody>
      </p:sp>
      <p:sp>
        <p:nvSpPr>
          <p:cNvPr id="21" name="Text 16"/>
          <p:cNvSpPr txBox="1"/>
          <p:nvPr/>
        </p:nvSpPr>
        <p:spPr>
          <a:xfrm>
            <a:off x="7077456" y="3154680"/>
            <a:ext cx="384048" cy="548640"/>
          </a:xfrm>
          <a:prstGeom prst="rect">
            <a:avLst/>
          </a:prstGeom>
          <a:noFill/>
          <a:ln/>
        </p:spPr>
        <p:txBody>
          <a:bodyPr wrap="square" lIns="0" tIns="0" rIns="0" bIns="0" rtlCol="0" anchor="ctr"/>
          <a:lstStyle/>
          <a:p>
            <a:pPr algn="ctr" indent="0" marL="0">
              <a:buNone/>
            </a:pPr>
            <a:r>
              <a:rPr lang="en-US" sz="2200" b="1" dirty="0">
                <a:solidFill>
                  <a:srgbClr val="E8A33D"/>
                </a:solidFill>
                <a:latin typeface="Calibri" pitchFamily="34" charset="0"/>
                <a:ea typeface="Calibri" pitchFamily="34" charset="-122"/>
                <a:cs typeface="Calibri" pitchFamily="34" charset="-120"/>
              </a:rPr>
              <a:t>→</a:t>
            </a:r>
            <a:endParaRPr lang="en-US" sz="2200" dirty="0"/>
          </a:p>
        </p:txBody>
      </p:sp>
      <p:sp>
        <p:nvSpPr>
          <p:cNvPr id="22" name="Shape 17"/>
          <p:cNvSpPr/>
          <p:nvPr/>
        </p:nvSpPr>
        <p:spPr>
          <a:xfrm>
            <a:off x="7461504" y="2377440"/>
            <a:ext cx="1874520" cy="2286000"/>
          </a:xfrm>
          <a:prstGeom prst="roundRect">
            <a:avLst>
              <a:gd name="adj" fmla="val 4878"/>
            </a:avLst>
          </a:prstGeom>
          <a:solidFill>
            <a:srgbClr val="1E2761"/>
          </a:solidFill>
          <a:ln w="9525">
            <a:solidFill>
              <a:srgbClr val="CADCFC"/>
            </a:solidFill>
            <a:prstDash val="solid"/>
          </a:ln>
        </p:spPr>
      </p:sp>
      <p:sp>
        <p:nvSpPr>
          <p:cNvPr id="23" name="Shape 18"/>
          <p:cNvSpPr/>
          <p:nvPr/>
        </p:nvSpPr>
        <p:spPr>
          <a:xfrm>
            <a:off x="8033004" y="2633472"/>
            <a:ext cx="731520" cy="731520"/>
          </a:xfrm>
          <a:prstGeom prst="ellipse">
            <a:avLst/>
          </a:prstGeom>
          <a:solidFill>
            <a:srgbClr val="141A47"/>
          </a:solidFill>
          <a:ln/>
        </p:spPr>
      </p:sp>
      <p:pic>
        <p:nvPicPr>
          <p:cNvPr id="24" name="Image 3" descr="preencoded.png">    </p:cNvPr>
          <p:cNvPicPr>
            <a:picLocks noChangeAspect="1"/>
          </p:cNvPicPr>
          <p:nvPr/>
        </p:nvPicPr>
        <p:blipFill>
          <a:blip r:embed="rId4"/>
          <a:stretch>
            <a:fillRect/>
          </a:stretch>
        </p:blipFill>
        <p:spPr>
          <a:xfrm>
            <a:off x="8128102" y="2728570"/>
            <a:ext cx="541325" cy="541325"/>
          </a:xfrm>
          <a:prstGeom prst="rect">
            <a:avLst/>
          </a:prstGeom>
        </p:spPr>
      </p:pic>
      <p:sp>
        <p:nvSpPr>
          <p:cNvPr id="25" name="Text 19"/>
          <p:cNvSpPr txBox="1"/>
          <p:nvPr/>
        </p:nvSpPr>
        <p:spPr>
          <a:xfrm>
            <a:off x="7534656" y="3520440"/>
            <a:ext cx="1728216" cy="59436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mbria" pitchFamily="34" charset="0"/>
                <a:ea typeface="Cambria" pitchFamily="34" charset="-122"/>
                <a:cs typeface="Cambria" pitchFamily="34" charset="-120"/>
              </a:rPr>
              <a:t>Guardrails</a:t>
            </a:r>
            <a:endParaRPr lang="en-US" sz="1300" dirty="0"/>
          </a:p>
        </p:txBody>
      </p:sp>
      <p:sp>
        <p:nvSpPr>
          <p:cNvPr id="26" name="Text 20"/>
          <p:cNvSpPr txBox="1"/>
          <p:nvPr/>
        </p:nvSpPr>
        <p:spPr>
          <a:xfrm>
            <a:off x="7534656" y="4133088"/>
            <a:ext cx="1728216" cy="457200"/>
          </a:xfrm>
          <a:prstGeom prst="rect">
            <a:avLst/>
          </a:prstGeom>
          <a:noFill/>
          <a:ln/>
        </p:spPr>
        <p:txBody>
          <a:bodyPr wrap="square" lIns="0" tIns="0" rIns="0" bIns="0"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Bloquea lo no autorizado</a:t>
            </a:r>
            <a:endParaRPr lang="en-US" sz="1000" dirty="0"/>
          </a:p>
        </p:txBody>
      </p:sp>
      <p:sp>
        <p:nvSpPr>
          <p:cNvPr id="27" name="Text 21"/>
          <p:cNvSpPr txBox="1"/>
          <p:nvPr/>
        </p:nvSpPr>
        <p:spPr>
          <a:xfrm>
            <a:off x="9336024" y="3154680"/>
            <a:ext cx="384048" cy="548640"/>
          </a:xfrm>
          <a:prstGeom prst="rect">
            <a:avLst/>
          </a:prstGeom>
          <a:noFill/>
          <a:ln/>
        </p:spPr>
        <p:txBody>
          <a:bodyPr wrap="square" lIns="0" tIns="0" rIns="0" bIns="0" rtlCol="0" anchor="ctr"/>
          <a:lstStyle/>
          <a:p>
            <a:pPr algn="ctr" indent="0" marL="0">
              <a:buNone/>
            </a:pPr>
            <a:r>
              <a:rPr lang="en-US" sz="2200" b="1" dirty="0">
                <a:solidFill>
                  <a:srgbClr val="E8A33D"/>
                </a:solidFill>
                <a:latin typeface="Calibri" pitchFamily="34" charset="0"/>
                <a:ea typeface="Calibri" pitchFamily="34" charset="-122"/>
                <a:cs typeface="Calibri" pitchFamily="34" charset="-120"/>
              </a:rPr>
              <a:t>→</a:t>
            </a:r>
            <a:endParaRPr lang="en-US" sz="2200" dirty="0"/>
          </a:p>
        </p:txBody>
      </p:sp>
      <p:sp>
        <p:nvSpPr>
          <p:cNvPr id="28" name="Shape 22"/>
          <p:cNvSpPr/>
          <p:nvPr/>
        </p:nvSpPr>
        <p:spPr>
          <a:xfrm>
            <a:off x="9720072" y="2377440"/>
            <a:ext cx="1874520" cy="2286000"/>
          </a:xfrm>
          <a:prstGeom prst="roundRect">
            <a:avLst>
              <a:gd name="adj" fmla="val 4878"/>
            </a:avLst>
          </a:prstGeom>
          <a:solidFill>
            <a:srgbClr val="1E2761"/>
          </a:solidFill>
          <a:ln w="9525">
            <a:solidFill>
              <a:srgbClr val="CADCFC"/>
            </a:solidFill>
            <a:prstDash val="solid"/>
          </a:ln>
        </p:spPr>
      </p:sp>
      <p:sp>
        <p:nvSpPr>
          <p:cNvPr id="29" name="Shape 23"/>
          <p:cNvSpPr/>
          <p:nvPr/>
        </p:nvSpPr>
        <p:spPr>
          <a:xfrm>
            <a:off x="10291572" y="2633472"/>
            <a:ext cx="731520" cy="731520"/>
          </a:xfrm>
          <a:prstGeom prst="ellipse">
            <a:avLst/>
          </a:prstGeom>
          <a:solidFill>
            <a:srgbClr val="141A47"/>
          </a:solidFill>
          <a:ln/>
        </p:spPr>
      </p:sp>
      <p:pic>
        <p:nvPicPr>
          <p:cNvPr id="30" name="Image 4" descr="preencoded.png">    </p:cNvPr>
          <p:cNvPicPr>
            <a:picLocks noChangeAspect="1"/>
          </p:cNvPicPr>
          <p:nvPr/>
        </p:nvPicPr>
        <p:blipFill>
          <a:blip r:embed="rId5"/>
          <a:stretch>
            <a:fillRect/>
          </a:stretch>
        </p:blipFill>
        <p:spPr>
          <a:xfrm>
            <a:off x="10386670" y="2728570"/>
            <a:ext cx="541325" cy="541325"/>
          </a:xfrm>
          <a:prstGeom prst="rect">
            <a:avLst/>
          </a:prstGeom>
        </p:spPr>
      </p:pic>
      <p:sp>
        <p:nvSpPr>
          <p:cNvPr id="31" name="Text 24"/>
          <p:cNvSpPr txBox="1"/>
          <p:nvPr/>
        </p:nvSpPr>
        <p:spPr>
          <a:xfrm>
            <a:off x="9793224" y="3520440"/>
            <a:ext cx="1728216" cy="59436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mbria" pitchFamily="34" charset="0"/>
                <a:ea typeface="Cambria" pitchFamily="34" charset="-122"/>
                <a:cs typeface="Cambria" pitchFamily="34" charset="-120"/>
              </a:rPr>
              <a:t>Escalamiento</a:t>
            </a:r>
            <a:endParaRPr lang="en-US" sz="1300" dirty="0"/>
          </a:p>
        </p:txBody>
      </p:sp>
      <p:sp>
        <p:nvSpPr>
          <p:cNvPr id="32" name="Text 25"/>
          <p:cNvSpPr txBox="1"/>
          <p:nvPr/>
        </p:nvSpPr>
        <p:spPr>
          <a:xfrm>
            <a:off x="9793224" y="4133088"/>
            <a:ext cx="1728216" cy="457200"/>
          </a:xfrm>
          <a:prstGeom prst="rect">
            <a:avLst/>
          </a:prstGeom>
          <a:noFill/>
          <a:ln/>
        </p:spPr>
        <p:txBody>
          <a:bodyPr wrap="square" lIns="0" tIns="0" rIns="0" bIns="0"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Gestor humano</a:t>
            </a:r>
            <a:endParaRPr lang="en-US" sz="1000" dirty="0"/>
          </a:p>
        </p:txBody>
      </p:sp>
      <p:sp>
        <p:nvSpPr>
          <p:cNvPr id="33" name="Text 26"/>
          <p:cNvSpPr txBox="1"/>
          <p:nvPr/>
        </p:nvSpPr>
        <p:spPr>
          <a:xfrm>
            <a:off x="685800" y="5074920"/>
            <a:ext cx="10789920" cy="731520"/>
          </a:xfrm>
          <a:prstGeom prst="rect">
            <a:avLst/>
          </a:prstGeom>
          <a:noFill/>
          <a:ln/>
        </p:spPr>
        <p:txBody>
          <a:bodyPr wrap="square" lIns="0" tIns="0" rIns="0" bIns="0" rtlCol="0" anchor="ctr"/>
          <a:lstStyle/>
          <a:p>
            <a:pPr indent="0" marL="0">
              <a:lnSpc>
                <a:spcPct val="125000"/>
              </a:lnSpc>
              <a:buNone/>
            </a:pPr>
            <a:r>
              <a:rPr lang="en-US" sz="1450" i="1" dirty="0">
                <a:solidFill>
                  <a:srgbClr val="CADCFC"/>
                </a:solidFill>
                <a:latin typeface="Calibri" pitchFamily="34" charset="0"/>
                <a:ea typeface="Calibri" pitchFamily="34" charset="-122"/>
                <a:cs typeface="Calibri" pitchFamily="34" charset="-120"/>
              </a:rPr>
              <a:t>Por qué separadas del LLM: en cobranza, la oferta debe ser exactamente la autorizada — nunca delegable a que un modelo de lenguaje la “invente”.</a:t>
            </a:r>
            <a:endParaRPr lang="en-US" sz="1450" dirty="0"/>
          </a:p>
        </p:txBody>
      </p:sp>
      <p:sp>
        <p:nvSpPr>
          <p:cNvPr id="34" name="Text 27"/>
          <p:cNvSpPr txBox="1"/>
          <p:nvPr/>
        </p:nvSpPr>
        <p:spPr>
          <a:xfrm>
            <a:off x="11365992" y="6355080"/>
            <a:ext cx="457200" cy="32004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3. PARTE 2 — SISTEMA AGÉNTICO · 4 MIN</a:t>
            </a:r>
            <a:endParaRPr lang="en-US" sz="1200" dirty="0"/>
          </a:p>
        </p:txBody>
      </p:sp>
      <p:sp>
        <p:nvSpPr>
          <p:cNvPr id="3" name="Text 1"/>
          <p:cNvSpPr txBox="1"/>
          <p:nvPr/>
        </p:nvSpPr>
        <p:spPr>
          <a:xfrm>
            <a:off x="548640" y="713232"/>
            <a:ext cx="1078992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Probado a fondo, con un límite explícito</a:t>
            </a:r>
            <a:endParaRPr lang="en-US" sz="3200" dirty="0"/>
          </a:p>
        </p:txBody>
      </p:sp>
      <p:sp>
        <p:nvSpPr>
          <p:cNvPr id="4" name="Shape 2"/>
          <p:cNvSpPr/>
          <p:nvPr/>
        </p:nvSpPr>
        <p:spPr>
          <a:xfrm>
            <a:off x="548640" y="1965960"/>
            <a:ext cx="3456432" cy="2286000"/>
          </a:xfrm>
          <a:prstGeom prst="roundRect">
            <a:avLst>
              <a:gd name="adj" fmla="val 4000"/>
            </a:avLst>
          </a:prstGeom>
          <a:solidFill>
            <a:srgbClr val="EEF2FB"/>
          </a:solidFill>
          <a:ln/>
        </p:spPr>
      </p:sp>
      <p:sp>
        <p:nvSpPr>
          <p:cNvPr id="5" name="Text 3"/>
          <p:cNvSpPr txBox="1"/>
          <p:nvPr/>
        </p:nvSpPr>
        <p:spPr>
          <a:xfrm>
            <a:off x="548640" y="2103120"/>
            <a:ext cx="3456432" cy="914400"/>
          </a:xfrm>
          <a:prstGeom prst="rect">
            <a:avLst/>
          </a:prstGeom>
          <a:noFill/>
          <a:ln/>
        </p:spPr>
        <p:txBody>
          <a:bodyPr wrap="square" lIns="0" tIns="0" rIns="0" bIns="0" rtlCol="0" anchor="ctr"/>
          <a:lstStyle/>
          <a:p>
            <a:pPr algn="ctr" indent="0" marL="0">
              <a:buNone/>
            </a:pPr>
            <a:r>
              <a:rPr lang="en-US" sz="4000" b="1" dirty="0">
                <a:solidFill>
                  <a:srgbClr val="E8A33D"/>
                </a:solidFill>
                <a:latin typeface="Cambria" pitchFamily="34" charset="0"/>
                <a:ea typeface="Cambria" pitchFamily="34" charset="-122"/>
                <a:cs typeface="Cambria" pitchFamily="34" charset="-120"/>
              </a:rPr>
              <a:t>14</a:t>
            </a:r>
            <a:endParaRPr lang="en-US" sz="4000" dirty="0"/>
          </a:p>
        </p:txBody>
      </p:sp>
      <p:sp>
        <p:nvSpPr>
          <p:cNvPr id="6" name="Text 4"/>
          <p:cNvSpPr txBox="1"/>
          <p:nvPr/>
        </p:nvSpPr>
        <p:spPr>
          <a:xfrm>
            <a:off x="731520" y="3017520"/>
            <a:ext cx="3090672" cy="548640"/>
          </a:xfrm>
          <a:prstGeom prst="rect">
            <a:avLst/>
          </a:prstGeom>
          <a:noFill/>
          <a:ln/>
        </p:spPr>
        <p:txBody>
          <a:bodyPr wrap="square" lIns="0" tIns="0" rIns="0" bIns="0" rtlCol="0" anchor="ctr"/>
          <a:lstStyle/>
          <a:p>
            <a:pPr algn="ctr" indent="0" marL="0">
              <a:lnSpc>
                <a:spcPct val="105000"/>
              </a:lnSpc>
              <a:buNone/>
            </a:pPr>
            <a:r>
              <a:rPr lang="en-US" sz="1250" b="1" dirty="0">
                <a:solidFill>
                  <a:srgbClr val="1E2761"/>
                </a:solidFill>
                <a:latin typeface="Calibri" pitchFamily="34" charset="0"/>
                <a:ea typeface="Calibri" pitchFamily="34" charset="-122"/>
                <a:cs typeface="Calibri" pitchFamily="34" charset="-120"/>
              </a:rPr>
              <a:t>escenarios dirigidos</a:t>
            </a:r>
            <a:endParaRPr lang="en-US" sz="1250" dirty="0"/>
          </a:p>
        </p:txBody>
      </p:sp>
      <p:sp>
        <p:nvSpPr>
          <p:cNvPr id="7" name="Text 5"/>
          <p:cNvSpPr txBox="1"/>
          <p:nvPr/>
        </p:nvSpPr>
        <p:spPr>
          <a:xfrm>
            <a:off x="731520" y="3611880"/>
            <a:ext cx="3090672" cy="548640"/>
          </a:xfrm>
          <a:prstGeom prst="rect">
            <a:avLst/>
          </a:prstGeom>
          <a:noFill/>
          <a:ln/>
        </p:spPr>
        <p:txBody>
          <a:bodyPr wrap="square" lIns="0" tIns="0" rIns="0" bIns="0" rtlCol="0" anchor="ctr"/>
          <a:lstStyle/>
          <a:p>
            <a:pPr algn="ctr" indent="0" marL="0">
              <a:buNone/>
            </a:pPr>
            <a:r>
              <a:rPr lang="en-US" sz="1050" i="1" dirty="0">
                <a:solidFill>
                  <a:srgbClr val="5B6B8C"/>
                </a:solidFill>
                <a:latin typeface="Calibri" pitchFamily="34" charset="0"/>
                <a:ea typeface="Calibri" pitchFamily="34" charset="-122"/>
                <a:cs typeface="Calibri" pitchFamily="34" charset="-120"/>
              </a:rPr>
              <a:t>7 pedidos + robustez + restricción legal</a:t>
            </a:r>
            <a:endParaRPr lang="en-US" sz="1050" dirty="0"/>
          </a:p>
        </p:txBody>
      </p:sp>
      <p:sp>
        <p:nvSpPr>
          <p:cNvPr id="8" name="Shape 6"/>
          <p:cNvSpPr/>
          <p:nvPr/>
        </p:nvSpPr>
        <p:spPr>
          <a:xfrm>
            <a:off x="4325112" y="1965960"/>
            <a:ext cx="3456432" cy="2286000"/>
          </a:xfrm>
          <a:prstGeom prst="roundRect">
            <a:avLst>
              <a:gd name="adj" fmla="val 4000"/>
            </a:avLst>
          </a:prstGeom>
          <a:solidFill>
            <a:srgbClr val="EEF2FB"/>
          </a:solidFill>
          <a:ln/>
        </p:spPr>
      </p:sp>
      <p:sp>
        <p:nvSpPr>
          <p:cNvPr id="9" name="Text 7"/>
          <p:cNvSpPr txBox="1"/>
          <p:nvPr/>
        </p:nvSpPr>
        <p:spPr>
          <a:xfrm>
            <a:off x="4325112" y="2103120"/>
            <a:ext cx="3456432" cy="914400"/>
          </a:xfrm>
          <a:prstGeom prst="rect">
            <a:avLst/>
          </a:prstGeom>
          <a:noFill/>
          <a:ln/>
        </p:spPr>
        <p:txBody>
          <a:bodyPr wrap="square" lIns="0" tIns="0" rIns="0" bIns="0" rtlCol="0" anchor="ctr"/>
          <a:lstStyle/>
          <a:p>
            <a:pPr algn="ctr" indent="0" marL="0">
              <a:buNone/>
            </a:pPr>
            <a:r>
              <a:rPr lang="en-US" sz="4000" b="1" dirty="0">
                <a:solidFill>
                  <a:srgbClr val="E8A33D"/>
                </a:solidFill>
                <a:latin typeface="Cambria" pitchFamily="34" charset="0"/>
                <a:ea typeface="Cambria" pitchFamily="34" charset="-122"/>
                <a:cs typeface="Cambria" pitchFamily="34" charset="-120"/>
              </a:rPr>
              <a:t>49</a:t>
            </a:r>
            <a:endParaRPr lang="en-US" sz="4000" dirty="0"/>
          </a:p>
        </p:txBody>
      </p:sp>
      <p:sp>
        <p:nvSpPr>
          <p:cNvPr id="10" name="Text 8"/>
          <p:cNvSpPr txBox="1"/>
          <p:nvPr/>
        </p:nvSpPr>
        <p:spPr>
          <a:xfrm>
            <a:off x="4507992" y="3017520"/>
            <a:ext cx="3090672" cy="548640"/>
          </a:xfrm>
          <a:prstGeom prst="rect">
            <a:avLst/>
          </a:prstGeom>
          <a:noFill/>
          <a:ln/>
        </p:spPr>
        <p:txBody>
          <a:bodyPr wrap="square" lIns="0" tIns="0" rIns="0" bIns="0" rtlCol="0" anchor="ctr"/>
          <a:lstStyle/>
          <a:p>
            <a:pPr algn="ctr" indent="0" marL="0">
              <a:lnSpc>
                <a:spcPct val="105000"/>
              </a:lnSpc>
              <a:buNone/>
            </a:pPr>
            <a:r>
              <a:rPr lang="en-US" sz="1250" b="1" dirty="0">
                <a:solidFill>
                  <a:srgbClr val="1E2761"/>
                </a:solidFill>
                <a:latin typeface="Calibri" pitchFamily="34" charset="0"/>
                <a:ea typeface="Calibri" pitchFamily="34" charset="-122"/>
                <a:cs typeface="Calibri" pitchFamily="34" charset="-120"/>
              </a:rPr>
              <a:t>pruebas automatizadas</a:t>
            </a:r>
            <a:endParaRPr lang="en-US" sz="1250" dirty="0"/>
          </a:p>
        </p:txBody>
      </p:sp>
      <p:sp>
        <p:nvSpPr>
          <p:cNvPr id="11" name="Text 9"/>
          <p:cNvSpPr txBox="1"/>
          <p:nvPr/>
        </p:nvSpPr>
        <p:spPr>
          <a:xfrm>
            <a:off x="4507992" y="3611880"/>
            <a:ext cx="3090672" cy="548640"/>
          </a:xfrm>
          <a:prstGeom prst="rect">
            <a:avLst/>
          </a:prstGeom>
          <a:noFill/>
          <a:ln/>
        </p:spPr>
        <p:txBody>
          <a:bodyPr wrap="square" lIns="0" tIns="0" rIns="0" bIns="0" rtlCol="0" anchor="ctr"/>
          <a:lstStyle/>
          <a:p>
            <a:pPr algn="ctr" indent="0" marL="0">
              <a:buNone/>
            </a:pPr>
            <a:r>
              <a:rPr lang="en-US" sz="1050" i="1" dirty="0">
                <a:solidFill>
                  <a:srgbClr val="5B6B8C"/>
                </a:solidFill>
                <a:latin typeface="Calibri" pitchFamily="34" charset="0"/>
                <a:ea typeface="Calibri" pitchFamily="34" charset="-122"/>
                <a:cs typeface="Calibri" pitchFamily="34" charset="-120"/>
              </a:rPr>
              <a:t>42 dirigidas + 7 masivas (400 casos sintéticos)</a:t>
            </a:r>
            <a:endParaRPr lang="en-US" sz="1050" dirty="0"/>
          </a:p>
        </p:txBody>
      </p:sp>
      <p:sp>
        <p:nvSpPr>
          <p:cNvPr id="12" name="Shape 10"/>
          <p:cNvSpPr/>
          <p:nvPr/>
        </p:nvSpPr>
        <p:spPr>
          <a:xfrm>
            <a:off x="8101584" y="1965960"/>
            <a:ext cx="3456432" cy="2286000"/>
          </a:xfrm>
          <a:prstGeom prst="roundRect">
            <a:avLst>
              <a:gd name="adj" fmla="val 4000"/>
            </a:avLst>
          </a:prstGeom>
          <a:solidFill>
            <a:srgbClr val="EEF2FB"/>
          </a:solidFill>
          <a:ln/>
        </p:spPr>
      </p:sp>
      <p:sp>
        <p:nvSpPr>
          <p:cNvPr id="13" name="Text 11"/>
          <p:cNvSpPr txBox="1"/>
          <p:nvPr/>
        </p:nvSpPr>
        <p:spPr>
          <a:xfrm>
            <a:off x="8101584" y="2103120"/>
            <a:ext cx="3456432" cy="914400"/>
          </a:xfrm>
          <a:prstGeom prst="rect">
            <a:avLst/>
          </a:prstGeom>
          <a:noFill/>
          <a:ln/>
        </p:spPr>
        <p:txBody>
          <a:bodyPr wrap="square" lIns="0" tIns="0" rIns="0" bIns="0" rtlCol="0" anchor="ctr"/>
          <a:lstStyle/>
          <a:p>
            <a:pPr algn="ctr" indent="0" marL="0">
              <a:buNone/>
            </a:pPr>
            <a:r>
              <a:rPr lang="en-US" sz="4000" b="1" dirty="0">
                <a:solidFill>
                  <a:srgbClr val="E8A33D"/>
                </a:solidFill>
                <a:latin typeface="Cambria" pitchFamily="34" charset="0"/>
                <a:ea typeface="Cambria" pitchFamily="34" charset="-122"/>
                <a:cs typeface="Cambria" pitchFamily="34" charset="-120"/>
              </a:rPr>
              <a:t>0%</a:t>
            </a:r>
            <a:endParaRPr lang="en-US" sz="4000" dirty="0"/>
          </a:p>
        </p:txBody>
      </p:sp>
      <p:sp>
        <p:nvSpPr>
          <p:cNvPr id="14" name="Text 12"/>
          <p:cNvSpPr txBox="1"/>
          <p:nvPr/>
        </p:nvSpPr>
        <p:spPr>
          <a:xfrm>
            <a:off x="8284464" y="3017520"/>
            <a:ext cx="3090672" cy="548640"/>
          </a:xfrm>
          <a:prstGeom prst="rect">
            <a:avLst/>
          </a:prstGeom>
          <a:noFill/>
          <a:ln/>
        </p:spPr>
        <p:txBody>
          <a:bodyPr wrap="square" lIns="0" tIns="0" rIns="0" bIns="0" rtlCol="0" anchor="ctr"/>
          <a:lstStyle/>
          <a:p>
            <a:pPr algn="ctr" indent="0" marL="0">
              <a:lnSpc>
                <a:spcPct val="105000"/>
              </a:lnSpc>
              <a:buNone/>
            </a:pPr>
            <a:r>
              <a:rPr lang="en-US" sz="1250" b="1" dirty="0">
                <a:solidFill>
                  <a:srgbClr val="1E2761"/>
                </a:solidFill>
                <a:latin typeface="Calibri" pitchFamily="34" charset="0"/>
                <a:ea typeface="Calibri" pitchFamily="34" charset="-122"/>
                <a:cs typeface="Calibri" pitchFamily="34" charset="-120"/>
              </a:rPr>
              <a:t>tolerancia a ofertas</a:t>
            </a:r>
            <a:endParaRPr lang="en-US" sz="1250" dirty="0"/>
          </a:p>
          <a:p>
            <a:pPr algn="ctr" indent="0" marL="0">
              <a:lnSpc>
                <a:spcPct val="105000"/>
              </a:lnSpc>
              <a:buNone/>
            </a:pPr>
            <a:r>
              <a:rPr lang="en-US" sz="1250" b="1" dirty="0">
                <a:solidFill>
                  <a:srgbClr val="1E2761"/>
                </a:solidFill>
                <a:latin typeface="Calibri" pitchFamily="34" charset="0"/>
                <a:ea typeface="Calibri" pitchFamily="34" charset="-122"/>
                <a:cs typeface="Calibri" pitchFamily="34" charset="-120"/>
              </a:rPr>
              <a:t>no autorizadas</a:t>
            </a:r>
            <a:endParaRPr lang="en-US" sz="1250" dirty="0"/>
          </a:p>
        </p:txBody>
      </p:sp>
      <p:sp>
        <p:nvSpPr>
          <p:cNvPr id="15" name="Text 13"/>
          <p:cNvSpPr txBox="1"/>
          <p:nvPr/>
        </p:nvSpPr>
        <p:spPr>
          <a:xfrm>
            <a:off x="8284464" y="3611880"/>
            <a:ext cx="3090672" cy="548640"/>
          </a:xfrm>
          <a:prstGeom prst="rect">
            <a:avLst/>
          </a:prstGeom>
          <a:noFill/>
          <a:ln/>
        </p:spPr>
        <p:txBody>
          <a:bodyPr wrap="square" lIns="0" tIns="0" rIns="0" bIns="0" rtlCol="0" anchor="ctr"/>
          <a:lstStyle/>
          <a:p>
            <a:pPr algn="ctr" indent="0" marL="0">
              <a:buNone/>
            </a:pPr>
            <a:r>
              <a:rPr lang="en-US" sz="1050" i="1" dirty="0">
                <a:solidFill>
                  <a:srgbClr val="5B6B8C"/>
                </a:solidFill>
                <a:latin typeface="Calibri" pitchFamily="34" charset="0"/>
                <a:ea typeface="Calibri" pitchFamily="34" charset="-122"/>
                <a:cs typeface="Calibri" pitchFamily="34" charset="-120"/>
              </a:rPr>
              <a:t>Cero incidentes de cumplimiento</a:t>
            </a:r>
            <a:endParaRPr lang="en-US" sz="1050" dirty="0"/>
          </a:p>
        </p:txBody>
      </p:sp>
      <p:sp>
        <p:nvSpPr>
          <p:cNvPr id="16" name="Shape 14"/>
          <p:cNvSpPr/>
          <p:nvPr/>
        </p:nvSpPr>
        <p:spPr>
          <a:xfrm>
            <a:off x="548640" y="4526280"/>
            <a:ext cx="11091672" cy="1417320"/>
          </a:xfrm>
          <a:prstGeom prst="roundRect">
            <a:avLst>
              <a:gd name="adj" fmla="val 6452"/>
            </a:avLst>
          </a:prstGeom>
          <a:solidFill>
            <a:srgbClr val="1E2761"/>
          </a:solidFill>
          <a:ln/>
        </p:spPr>
      </p:sp>
      <p:sp>
        <p:nvSpPr>
          <p:cNvPr id="17" name="Shape 15"/>
          <p:cNvSpPr/>
          <p:nvPr/>
        </p:nvSpPr>
        <p:spPr>
          <a:xfrm>
            <a:off x="822960" y="4754880"/>
            <a:ext cx="566928" cy="566928"/>
          </a:xfrm>
          <a:prstGeom prst="ellipse">
            <a:avLst/>
          </a:prstGeom>
          <a:solidFill>
            <a:srgbClr val="141A47"/>
          </a:solidFill>
          <a:ln/>
        </p:spPr>
      </p:sp>
      <p:pic>
        <p:nvPicPr>
          <p:cNvPr id="18" name="Image 0" descr="preencoded.png">    </p:cNvPr>
          <p:cNvPicPr>
            <a:picLocks noChangeAspect="1"/>
          </p:cNvPicPr>
          <p:nvPr/>
        </p:nvPicPr>
        <p:blipFill>
          <a:blip r:embed="rId1"/>
          <a:stretch>
            <a:fillRect/>
          </a:stretch>
        </p:blipFill>
        <p:spPr>
          <a:xfrm>
            <a:off x="896661" y="4828581"/>
            <a:ext cx="419527" cy="419527"/>
          </a:xfrm>
          <a:prstGeom prst="rect">
            <a:avLst/>
          </a:prstGeom>
        </p:spPr>
      </p:pic>
      <p:sp>
        <p:nvSpPr>
          <p:cNvPr id="19" name="Text 16"/>
          <p:cNvSpPr txBox="1"/>
          <p:nvPr/>
        </p:nvSpPr>
        <p:spPr>
          <a:xfrm>
            <a:off x="1600200" y="4645152"/>
            <a:ext cx="9784080" cy="1188720"/>
          </a:xfrm>
          <a:prstGeom prst="rect">
            <a:avLst/>
          </a:prstGeom>
          <a:noFill/>
          <a:ln/>
        </p:spPr>
        <p:txBody>
          <a:bodyPr wrap="square" lIns="0" tIns="0" rIns="0" bIns="0" rtlCol="0" anchor="ctr"/>
          <a:lstStyle/>
          <a:p>
            <a:pPr indent="0" marL="0">
              <a:lnSpc>
                <a:spcPct val="120000"/>
              </a:lnSpc>
              <a:buNone/>
            </a:pPr>
            <a:r>
              <a:rPr lang="en-US" sz="1300" dirty="0">
                <a:solidFill>
                  <a:srgbClr val="FFFFFF"/>
                </a:solidFill>
                <a:latin typeface="Calibri" pitchFamily="34" charset="0"/>
                <a:ea typeface="Calibri" pitchFamily="34" charset="-122"/>
                <a:cs typeface="Calibri" pitchFamily="34" charset="-120"/>
              </a:rPr>
              <a:t>Limitación del entorno: sin acceso a un LLM real en esta prueba. El prototipo usa reglas/plantillas, con un punto de extensión explícito para conectar un LLM en producción sin tocar el motor de decisión.</a:t>
            </a:r>
            <a:endParaRPr lang="en-US" sz="1300" dirty="0"/>
          </a:p>
        </p:txBody>
      </p:sp>
      <p:sp>
        <p:nvSpPr>
          <p:cNvPr id="20" name="Text 17"/>
          <p:cNvSpPr txBox="1"/>
          <p:nvPr/>
        </p:nvSpPr>
        <p:spPr>
          <a:xfrm>
            <a:off x="11365992" y="6355080"/>
            <a:ext cx="457200" cy="32004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4. ARQUITECTURA DE PRODUCCIÓN · 1.5 MIN</a:t>
            </a:r>
            <a:endParaRPr lang="en-US" sz="1200" dirty="0"/>
          </a:p>
        </p:txBody>
      </p:sp>
      <p:sp>
        <p:nvSpPr>
          <p:cNvPr id="3" name="Text 1"/>
          <p:cNvSpPr txBox="1"/>
          <p:nvPr/>
        </p:nvSpPr>
        <p:spPr>
          <a:xfrm>
            <a:off x="548640" y="713232"/>
            <a:ext cx="1078992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Del prototipo a la operación monitoreada</a:t>
            </a:r>
            <a:endParaRPr lang="en-US" sz="3200" dirty="0"/>
          </a:p>
        </p:txBody>
      </p:sp>
      <p:sp>
        <p:nvSpPr>
          <p:cNvPr id="4" name="Shape 2"/>
          <p:cNvSpPr/>
          <p:nvPr/>
        </p:nvSpPr>
        <p:spPr>
          <a:xfrm>
            <a:off x="548640" y="2103120"/>
            <a:ext cx="1673352" cy="1188720"/>
          </a:xfrm>
          <a:prstGeom prst="roundRect">
            <a:avLst>
              <a:gd name="adj" fmla="val 6154"/>
            </a:avLst>
          </a:prstGeom>
          <a:solidFill>
            <a:srgbClr val="1E2761"/>
          </a:solidFill>
          <a:ln/>
        </p:spPr>
      </p:sp>
      <p:sp>
        <p:nvSpPr>
          <p:cNvPr id="5" name="Text 3"/>
          <p:cNvSpPr txBox="1"/>
          <p:nvPr/>
        </p:nvSpPr>
        <p:spPr>
          <a:xfrm>
            <a:off x="621792" y="2103120"/>
            <a:ext cx="1527048" cy="118872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Feature store</a:t>
            </a:r>
            <a:endParaRPr lang="en-US" sz="1100" dirty="0"/>
          </a:p>
        </p:txBody>
      </p:sp>
      <p:sp>
        <p:nvSpPr>
          <p:cNvPr id="6" name="Text 4"/>
          <p:cNvSpPr txBox="1"/>
          <p:nvPr/>
        </p:nvSpPr>
        <p:spPr>
          <a:xfrm>
            <a:off x="2203704" y="2487168"/>
            <a:ext cx="205740" cy="45720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391156" y="2103120"/>
            <a:ext cx="1673352" cy="1188720"/>
          </a:xfrm>
          <a:prstGeom prst="roundRect">
            <a:avLst>
              <a:gd name="adj" fmla="val 6154"/>
            </a:avLst>
          </a:prstGeom>
          <a:solidFill>
            <a:srgbClr val="1E2761"/>
          </a:solidFill>
          <a:ln/>
        </p:spPr>
      </p:sp>
      <p:sp>
        <p:nvSpPr>
          <p:cNvPr id="8" name="Text 6"/>
          <p:cNvSpPr txBox="1"/>
          <p:nvPr/>
        </p:nvSpPr>
        <p:spPr>
          <a:xfrm>
            <a:off x="2464308" y="2103120"/>
            <a:ext cx="1527048" cy="118872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Entrenamiento</a:t>
            </a:r>
            <a:endParaRPr lang="en-US" sz="1100" dirty="0"/>
          </a:p>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(MLflow)</a:t>
            </a:r>
            <a:endParaRPr lang="en-US" sz="1100" dirty="0"/>
          </a:p>
        </p:txBody>
      </p:sp>
      <p:sp>
        <p:nvSpPr>
          <p:cNvPr id="9" name="Text 7"/>
          <p:cNvSpPr txBox="1"/>
          <p:nvPr/>
        </p:nvSpPr>
        <p:spPr>
          <a:xfrm>
            <a:off x="4046220" y="2487168"/>
            <a:ext cx="205740" cy="45720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4233672" y="2103120"/>
            <a:ext cx="1673352" cy="1188720"/>
          </a:xfrm>
          <a:prstGeom prst="roundRect">
            <a:avLst>
              <a:gd name="adj" fmla="val 6154"/>
            </a:avLst>
          </a:prstGeom>
          <a:solidFill>
            <a:srgbClr val="1E2761"/>
          </a:solidFill>
          <a:ln/>
        </p:spPr>
      </p:sp>
      <p:sp>
        <p:nvSpPr>
          <p:cNvPr id="11" name="Text 9"/>
          <p:cNvSpPr txBox="1"/>
          <p:nvPr/>
        </p:nvSpPr>
        <p:spPr>
          <a:xfrm>
            <a:off x="4306824" y="2103120"/>
            <a:ext cx="1527048" cy="118872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Scoring batch</a:t>
            </a:r>
            <a:endParaRPr lang="en-US" sz="1100" dirty="0"/>
          </a:p>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 on-demand</a:t>
            </a:r>
            <a:endParaRPr lang="en-US" sz="1100" dirty="0"/>
          </a:p>
        </p:txBody>
      </p:sp>
      <p:sp>
        <p:nvSpPr>
          <p:cNvPr id="12" name="Text 10"/>
          <p:cNvSpPr txBox="1"/>
          <p:nvPr/>
        </p:nvSpPr>
        <p:spPr>
          <a:xfrm>
            <a:off x="5888736" y="2487168"/>
            <a:ext cx="205740" cy="45720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6076188" y="2103120"/>
            <a:ext cx="1673352" cy="1188720"/>
          </a:xfrm>
          <a:prstGeom prst="roundRect">
            <a:avLst>
              <a:gd name="adj" fmla="val 6154"/>
            </a:avLst>
          </a:prstGeom>
          <a:solidFill>
            <a:srgbClr val="1E2761"/>
          </a:solidFill>
          <a:ln/>
        </p:spPr>
      </p:sp>
      <p:sp>
        <p:nvSpPr>
          <p:cNvPr id="14" name="Text 12"/>
          <p:cNvSpPr txBox="1"/>
          <p:nvPr/>
        </p:nvSpPr>
        <p:spPr>
          <a:xfrm>
            <a:off x="6149340" y="2103120"/>
            <a:ext cx="1527048" cy="118872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Orquestador</a:t>
            </a:r>
            <a:endParaRPr lang="en-US" sz="1100" dirty="0"/>
          </a:p>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agéntico</a:t>
            </a:r>
            <a:endParaRPr lang="en-US" sz="1100" dirty="0"/>
          </a:p>
        </p:txBody>
      </p:sp>
      <p:sp>
        <p:nvSpPr>
          <p:cNvPr id="15" name="Text 13"/>
          <p:cNvSpPr txBox="1"/>
          <p:nvPr/>
        </p:nvSpPr>
        <p:spPr>
          <a:xfrm>
            <a:off x="7731252" y="2487168"/>
            <a:ext cx="205740" cy="45720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7918704" y="2103120"/>
            <a:ext cx="1673352" cy="1188720"/>
          </a:xfrm>
          <a:prstGeom prst="roundRect">
            <a:avLst>
              <a:gd name="adj" fmla="val 6154"/>
            </a:avLst>
          </a:prstGeom>
          <a:solidFill>
            <a:srgbClr val="1E2761"/>
          </a:solidFill>
          <a:ln/>
        </p:spPr>
      </p:sp>
      <p:sp>
        <p:nvSpPr>
          <p:cNvPr id="17" name="Text 15"/>
          <p:cNvSpPr txBox="1"/>
          <p:nvPr/>
        </p:nvSpPr>
        <p:spPr>
          <a:xfrm>
            <a:off x="7991856" y="2103120"/>
            <a:ext cx="1527048" cy="118872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Escalamiento</a:t>
            </a:r>
            <a:endParaRPr lang="en-US" sz="1100" dirty="0"/>
          </a:p>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humano</a:t>
            </a:r>
            <a:endParaRPr lang="en-US" sz="1100" dirty="0"/>
          </a:p>
        </p:txBody>
      </p:sp>
      <p:sp>
        <p:nvSpPr>
          <p:cNvPr id="18" name="Text 16"/>
          <p:cNvSpPr txBox="1"/>
          <p:nvPr/>
        </p:nvSpPr>
        <p:spPr>
          <a:xfrm>
            <a:off x="9573768" y="2487168"/>
            <a:ext cx="205740" cy="45720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9761220" y="2103120"/>
            <a:ext cx="1673352" cy="1188720"/>
          </a:xfrm>
          <a:prstGeom prst="roundRect">
            <a:avLst>
              <a:gd name="adj" fmla="val 6154"/>
            </a:avLst>
          </a:prstGeom>
          <a:solidFill>
            <a:srgbClr val="E8A33D"/>
          </a:solidFill>
          <a:ln/>
        </p:spPr>
      </p:sp>
      <p:sp>
        <p:nvSpPr>
          <p:cNvPr id="20" name="Text 18"/>
          <p:cNvSpPr txBox="1"/>
          <p:nvPr/>
        </p:nvSpPr>
        <p:spPr>
          <a:xfrm>
            <a:off x="9834372" y="2103120"/>
            <a:ext cx="1527048" cy="118872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Monitoreo</a:t>
            </a:r>
            <a:endParaRPr lang="en-US" sz="1100" dirty="0"/>
          </a:p>
        </p:txBody>
      </p:sp>
      <p:sp>
        <p:nvSpPr>
          <p:cNvPr id="21" name="Text 19"/>
          <p:cNvSpPr txBox="1"/>
          <p:nvPr/>
        </p:nvSpPr>
        <p:spPr>
          <a:xfrm>
            <a:off x="548640" y="3703320"/>
            <a:ext cx="45720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Roadmap propuesto</a:t>
            </a:r>
            <a:endParaRPr lang="en-US" sz="1500" dirty="0"/>
          </a:p>
        </p:txBody>
      </p:sp>
      <p:sp>
        <p:nvSpPr>
          <p:cNvPr id="22" name="Shape 20"/>
          <p:cNvSpPr/>
          <p:nvPr/>
        </p:nvSpPr>
        <p:spPr>
          <a:xfrm>
            <a:off x="548640" y="4160520"/>
            <a:ext cx="365760" cy="365760"/>
          </a:xfrm>
          <a:prstGeom prst="ellipse">
            <a:avLst/>
          </a:prstGeom>
          <a:solidFill>
            <a:srgbClr val="1E2761"/>
          </a:solidFill>
          <a:ln/>
        </p:spPr>
      </p:sp>
      <p:pic>
        <p:nvPicPr>
          <p:cNvPr id="23" name="Image 0" descr="preencoded.png">    </p:cNvPr>
          <p:cNvPicPr>
            <a:picLocks noChangeAspect="1"/>
          </p:cNvPicPr>
          <p:nvPr/>
        </p:nvPicPr>
        <p:blipFill>
          <a:blip r:embed="rId1"/>
          <a:stretch>
            <a:fillRect/>
          </a:stretch>
        </p:blipFill>
        <p:spPr>
          <a:xfrm>
            <a:off x="596189" y="4208069"/>
            <a:ext cx="270662" cy="270662"/>
          </a:xfrm>
          <a:prstGeom prst="rect">
            <a:avLst/>
          </a:prstGeom>
        </p:spPr>
      </p:pic>
      <p:sp>
        <p:nvSpPr>
          <p:cNvPr id="24" name="Text 21"/>
          <p:cNvSpPr txBox="1"/>
          <p:nvPr/>
        </p:nvSpPr>
        <p:spPr>
          <a:xfrm>
            <a:off x="1097280" y="4114800"/>
            <a:ext cx="10332720" cy="457200"/>
          </a:xfrm>
          <a:prstGeom prst="rect">
            <a:avLst/>
          </a:prstGeom>
          <a:noFill/>
          <a:ln/>
        </p:spPr>
        <p:txBody>
          <a:bodyPr wrap="square" lIns="0" tIns="0" rIns="0" bIns="0" rtlCol="0" anchor="ctr"/>
          <a:lstStyle/>
          <a:p>
            <a:pPr indent="0" marL="0">
              <a:buNone/>
            </a:pPr>
            <a:r>
              <a:rPr lang="en-US" sz="1300" dirty="0">
                <a:solidFill>
                  <a:srgbClr val="1E2761"/>
                </a:solidFill>
                <a:latin typeface="Calibri" pitchFamily="34" charset="0"/>
                <a:ea typeface="Calibri" pitchFamily="34" charset="-122"/>
                <a:cs typeface="Calibri" pitchFamily="34" charset="-120"/>
              </a:rPr>
              <a:t>Reemplazar el NLU por reglas con un LLM + evaluación continua</a:t>
            </a:r>
            <a:endParaRPr lang="en-US" sz="1300" dirty="0"/>
          </a:p>
        </p:txBody>
      </p:sp>
      <p:sp>
        <p:nvSpPr>
          <p:cNvPr id="25" name="Shape 22"/>
          <p:cNvSpPr/>
          <p:nvPr/>
        </p:nvSpPr>
        <p:spPr>
          <a:xfrm>
            <a:off x="548640" y="4727448"/>
            <a:ext cx="365760" cy="365760"/>
          </a:xfrm>
          <a:prstGeom prst="ellipse">
            <a:avLst/>
          </a:prstGeom>
          <a:solidFill>
            <a:srgbClr val="1E2761"/>
          </a:solidFill>
          <a:ln/>
        </p:spPr>
      </p:sp>
      <p:pic>
        <p:nvPicPr>
          <p:cNvPr id="26" name="Image 1" descr="preencoded.png">    </p:cNvPr>
          <p:cNvPicPr>
            <a:picLocks noChangeAspect="1"/>
          </p:cNvPicPr>
          <p:nvPr/>
        </p:nvPicPr>
        <p:blipFill>
          <a:blip r:embed="rId2"/>
          <a:stretch>
            <a:fillRect/>
          </a:stretch>
        </p:blipFill>
        <p:spPr>
          <a:xfrm>
            <a:off x="596189" y="4774997"/>
            <a:ext cx="270662" cy="270662"/>
          </a:xfrm>
          <a:prstGeom prst="rect">
            <a:avLst/>
          </a:prstGeom>
        </p:spPr>
      </p:pic>
      <p:sp>
        <p:nvSpPr>
          <p:cNvPr id="27" name="Text 23"/>
          <p:cNvSpPr txBox="1"/>
          <p:nvPr/>
        </p:nvSpPr>
        <p:spPr>
          <a:xfrm>
            <a:off x="1097280" y="4681728"/>
            <a:ext cx="10332720" cy="457200"/>
          </a:xfrm>
          <a:prstGeom prst="rect">
            <a:avLst/>
          </a:prstGeom>
          <a:noFill/>
          <a:ln/>
        </p:spPr>
        <p:txBody>
          <a:bodyPr wrap="square" lIns="0" tIns="0" rIns="0" bIns="0" rtlCol="0" anchor="ctr"/>
          <a:lstStyle/>
          <a:p>
            <a:pPr indent="0" marL="0">
              <a:buNone/>
            </a:pPr>
            <a:r>
              <a:rPr lang="en-US" sz="1300" dirty="0">
                <a:solidFill>
                  <a:srgbClr val="1E2761"/>
                </a:solidFill>
                <a:latin typeface="Calibri" pitchFamily="34" charset="0"/>
                <a:ea typeface="Calibri" pitchFamily="34" charset="-122"/>
                <a:cs typeface="Calibri" pitchFamily="34" charset="-120"/>
              </a:rPr>
              <a:t>Validar PSI de estabilidad poblacional en producción</a:t>
            </a:r>
            <a:endParaRPr lang="en-US" sz="1300" dirty="0"/>
          </a:p>
        </p:txBody>
      </p:sp>
      <p:sp>
        <p:nvSpPr>
          <p:cNvPr id="28" name="Shape 24"/>
          <p:cNvSpPr/>
          <p:nvPr/>
        </p:nvSpPr>
        <p:spPr>
          <a:xfrm>
            <a:off x="548640" y="5294376"/>
            <a:ext cx="365760" cy="365760"/>
          </a:xfrm>
          <a:prstGeom prst="ellipse">
            <a:avLst/>
          </a:prstGeom>
          <a:solidFill>
            <a:srgbClr val="1E2761"/>
          </a:solidFill>
          <a:ln/>
        </p:spPr>
      </p:sp>
      <p:pic>
        <p:nvPicPr>
          <p:cNvPr id="29" name="Image 2" descr="preencoded.png">    </p:cNvPr>
          <p:cNvPicPr>
            <a:picLocks noChangeAspect="1"/>
          </p:cNvPicPr>
          <p:nvPr/>
        </p:nvPicPr>
        <p:blipFill>
          <a:blip r:embed="rId3"/>
          <a:stretch>
            <a:fillRect/>
          </a:stretch>
        </p:blipFill>
        <p:spPr>
          <a:xfrm>
            <a:off x="596189" y="5341925"/>
            <a:ext cx="270662" cy="270662"/>
          </a:xfrm>
          <a:prstGeom prst="rect">
            <a:avLst/>
          </a:prstGeom>
        </p:spPr>
      </p:pic>
      <p:sp>
        <p:nvSpPr>
          <p:cNvPr id="30" name="Text 25"/>
          <p:cNvSpPr txBox="1"/>
          <p:nvPr/>
        </p:nvSpPr>
        <p:spPr>
          <a:xfrm>
            <a:off x="1097280" y="5248656"/>
            <a:ext cx="10332720" cy="457200"/>
          </a:xfrm>
          <a:prstGeom prst="rect">
            <a:avLst/>
          </a:prstGeom>
          <a:noFill/>
          <a:ln/>
        </p:spPr>
        <p:txBody>
          <a:bodyPr wrap="square" lIns="0" tIns="0" rIns="0" bIns="0" rtlCol="0" anchor="ctr"/>
          <a:lstStyle/>
          <a:p>
            <a:pPr indent="0" marL="0">
              <a:buNone/>
            </a:pPr>
            <a:r>
              <a:rPr lang="en-US" sz="1300" dirty="0">
                <a:solidFill>
                  <a:srgbClr val="1E2761"/>
                </a:solidFill>
                <a:latin typeface="Calibri" pitchFamily="34" charset="0"/>
                <a:ea typeface="Calibri" pitchFamily="34" charset="-122"/>
                <a:cs typeface="Calibri" pitchFamily="34" charset="-120"/>
              </a:rPr>
              <a:t>Conseguir el dato de elegibilidad vigente para el scoring on-demand</a:t>
            </a:r>
            <a:endParaRPr lang="en-US" sz="1300" dirty="0"/>
          </a:p>
        </p:txBody>
      </p:sp>
      <p:sp>
        <p:nvSpPr>
          <p:cNvPr id="31" name="Text 26"/>
          <p:cNvSpPr txBox="1"/>
          <p:nvPr/>
        </p:nvSpPr>
        <p:spPr>
          <a:xfrm>
            <a:off x="11365992" y="6355080"/>
            <a:ext cx="457200" cy="32004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A47"/>
        </a:solidFill>
      </p:bgPr>
    </p:bg>
    <p:spTree>
      <p:nvGrpSpPr>
        <p:cNvPr id="1" name=""/>
        <p:cNvGrpSpPr/>
        <p:nvPr/>
      </p:nvGrpSpPr>
      <p:grpSpPr>
        <a:xfrm>
          <a:off x="0" y="0"/>
          <a:ext cx="0" cy="0"/>
          <a:chOff x="0" y="0"/>
          <a:chExt cx="0" cy="0"/>
        </a:xfrm>
      </p:grpSpPr>
      <p:sp>
        <p:nvSpPr>
          <p:cNvPr id="2" name="Shape 0"/>
          <p:cNvSpPr/>
          <p:nvPr/>
        </p:nvSpPr>
        <p:spPr>
          <a:xfrm>
            <a:off x="-2286000" y="3657600"/>
            <a:ext cx="5486400" cy="5486400"/>
          </a:xfrm>
          <a:prstGeom prst="ellipse">
            <a:avLst/>
          </a:prstGeom>
          <a:solidFill>
            <a:srgbClr val="1E2761"/>
          </a:solidFill>
          <a:ln/>
        </p:spPr>
      </p:sp>
      <p:sp>
        <p:nvSpPr>
          <p:cNvPr id="3" name="Shape 1"/>
          <p:cNvSpPr/>
          <p:nvPr/>
        </p:nvSpPr>
        <p:spPr>
          <a:xfrm>
            <a:off x="5591556" y="1417320"/>
            <a:ext cx="1005840" cy="1005840"/>
          </a:xfrm>
          <a:prstGeom prst="ellipse">
            <a:avLst/>
          </a:prstGeom>
          <a:solidFill>
            <a:srgbClr val="1E2761"/>
          </a:solidFill>
          <a:ln/>
        </p:spPr>
      </p:sp>
      <p:pic>
        <p:nvPicPr>
          <p:cNvPr id="4" name="Image 0" descr="preencoded.png">    </p:cNvPr>
          <p:cNvPicPr>
            <a:picLocks noChangeAspect="1"/>
          </p:cNvPicPr>
          <p:nvPr/>
        </p:nvPicPr>
        <p:blipFill>
          <a:blip r:embed="rId1"/>
          <a:stretch>
            <a:fillRect/>
          </a:stretch>
        </p:blipFill>
        <p:spPr>
          <a:xfrm>
            <a:off x="5722315" y="1548079"/>
            <a:ext cx="744322" cy="744322"/>
          </a:xfrm>
          <a:prstGeom prst="rect">
            <a:avLst/>
          </a:prstGeom>
        </p:spPr>
      </p:pic>
      <p:sp>
        <p:nvSpPr>
          <p:cNvPr id="5" name="Text 2"/>
          <p:cNvSpPr txBox="1"/>
          <p:nvPr/>
        </p:nvSpPr>
        <p:spPr>
          <a:xfrm>
            <a:off x="0" y="2788920"/>
            <a:ext cx="12188952" cy="457200"/>
          </a:xfrm>
          <a:prstGeom prst="rect">
            <a:avLst/>
          </a:prstGeom>
          <a:noFill/>
          <a:ln/>
        </p:spPr>
        <p:txBody>
          <a:bodyPr wrap="square" lIns="0" tIns="0" rIns="0" bIns="0" rtlCol="0" anchor="ctr"/>
          <a:lstStyle/>
          <a:p>
            <a:pPr algn="ctr" indent="0" marL="0">
              <a:buNone/>
            </a:pPr>
            <a:r>
              <a:rPr lang="en-US" sz="1400" b="1" spc="300" kern="0" dirty="0">
                <a:solidFill>
                  <a:srgbClr val="E8A33D"/>
                </a:solidFill>
                <a:latin typeface="Calibri" pitchFamily="34" charset="0"/>
                <a:ea typeface="Calibri" pitchFamily="34" charset="-122"/>
                <a:cs typeface="Calibri" pitchFamily="34" charset="-120"/>
              </a:rPr>
              <a:t>BLOQUE EJECUTIVO</a:t>
            </a:r>
            <a:endParaRPr lang="en-US" sz="1400" dirty="0"/>
          </a:p>
        </p:txBody>
      </p:sp>
      <p:sp>
        <p:nvSpPr>
          <p:cNvPr id="6" name="Text 3"/>
          <p:cNvSpPr txBox="1"/>
          <p:nvPr/>
        </p:nvSpPr>
        <p:spPr>
          <a:xfrm>
            <a:off x="0" y="3246120"/>
            <a:ext cx="12188952" cy="8229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Comité directivo no técnico</a:t>
            </a:r>
            <a:endParaRPr lang="en-US" sz="3400" dirty="0"/>
          </a:p>
        </p:txBody>
      </p:sp>
      <p:sp>
        <p:nvSpPr>
          <p:cNvPr id="7" name="Text 4"/>
          <p:cNvSpPr txBox="1"/>
          <p:nvPr/>
        </p:nvSpPr>
        <p:spPr>
          <a:xfrm>
            <a:off x="0" y="4114800"/>
            <a:ext cx="12188952" cy="457200"/>
          </a:xfrm>
          <a:prstGeom prst="rect">
            <a:avLst/>
          </a:prstGeom>
          <a:noFill/>
          <a:ln/>
        </p:spPr>
        <p:txBody>
          <a:bodyPr wrap="square" lIns="0" tIns="0" rIns="0" bIns="0" rtlCol="0" anchor="ctr"/>
          <a:lstStyle/>
          <a:p>
            <a:pPr algn="ctr" indent="0" marL="0">
              <a:buNone/>
            </a:pPr>
            <a:r>
              <a:rPr lang="en-US" sz="1400" i="1" dirty="0">
                <a:solidFill>
                  <a:srgbClr val="CADCFC"/>
                </a:solidFill>
                <a:latin typeface="Calibri" pitchFamily="34" charset="0"/>
                <a:ea typeface="Calibri" pitchFamily="34" charset="-122"/>
                <a:cs typeface="Calibri" pitchFamily="34" charset="-120"/>
              </a:rPr>
              <a:t>5 minutos · sin jerga técnica (F1, AUC, LightGBM, LLM) · foco en impacto y riesgo</a:t>
            </a:r>
            <a:endParaRPr lang="en-US" sz="1400" dirty="0"/>
          </a:p>
        </p:txBody>
      </p:sp>
      <p:sp>
        <p:nvSpPr>
          <p:cNvPr id="8" name="Text 5"/>
          <p:cNvSpPr txBox="1"/>
          <p:nvPr/>
        </p:nvSpPr>
        <p:spPr>
          <a:xfrm>
            <a:off x="11365992" y="6355080"/>
            <a:ext cx="457200" cy="32004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BLOQUE EJECUTIVO · EL PROBLEMA Y EL RESULTADO</a:t>
            </a:r>
            <a:endParaRPr lang="en-US" sz="1200" dirty="0"/>
          </a:p>
        </p:txBody>
      </p:sp>
      <p:sp>
        <p:nvSpPr>
          <p:cNvPr id="3" name="Text 1"/>
          <p:cNvSpPr txBox="1"/>
          <p:nvPr/>
        </p:nvSpPr>
        <p:spPr>
          <a:xfrm>
            <a:off x="548640" y="713232"/>
            <a:ext cx="10789920" cy="118872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“Sabemos, con un mes de anticipación,</a:t>
            </a:r>
            <a:endParaRPr lang="en-US" sz="2600" dirty="0"/>
          </a:p>
          <a:p>
            <a:pPr indent="0" marL="0">
              <a:buNone/>
            </a:pPr>
            <a:r>
              <a:rPr lang="en-US" sz="2600" b="1" dirty="0">
                <a:solidFill>
                  <a:srgbClr val="1E2761"/>
                </a:solidFill>
                <a:latin typeface="Cambria" pitchFamily="34" charset="0"/>
                <a:ea typeface="Cambria" pitchFamily="34" charset="-122"/>
                <a:cs typeface="Cambria" pitchFamily="34" charset="-120"/>
              </a:rPr>
              <a:t>qué clientes van a aceptar”</a:t>
            </a:r>
            <a:endParaRPr lang="en-US" sz="2600" dirty="0"/>
          </a:p>
        </p:txBody>
      </p:sp>
      <p:sp>
        <p:nvSpPr>
          <p:cNvPr id="4" name="Shape 2"/>
          <p:cNvSpPr/>
          <p:nvPr/>
        </p:nvSpPr>
        <p:spPr>
          <a:xfrm>
            <a:off x="548640" y="3429000"/>
            <a:ext cx="5943600" cy="2331720"/>
          </a:xfrm>
          <a:prstGeom prst="roundRect">
            <a:avLst>
              <a:gd name="adj" fmla="val 4706"/>
            </a:avLst>
          </a:prstGeom>
          <a:solidFill>
            <a:srgbClr val="1E2761"/>
          </a:solidFill>
          <a:ln/>
        </p:spPr>
      </p:sp>
      <p:sp>
        <p:nvSpPr>
          <p:cNvPr id="5" name="Text 3"/>
          <p:cNvSpPr txBox="1"/>
          <p:nvPr/>
        </p:nvSpPr>
        <p:spPr>
          <a:xfrm>
            <a:off x="822960" y="3520440"/>
            <a:ext cx="2103120" cy="1371600"/>
          </a:xfrm>
          <a:prstGeom prst="rect">
            <a:avLst/>
          </a:prstGeom>
          <a:noFill/>
          <a:ln/>
        </p:spPr>
        <p:txBody>
          <a:bodyPr wrap="square" lIns="0" tIns="0" rIns="0" bIns="0" rtlCol="0" anchor="ctr"/>
          <a:lstStyle/>
          <a:p>
            <a:pPr indent="0" marL="0">
              <a:buNone/>
            </a:pPr>
            <a:r>
              <a:rPr lang="en-US" sz="7800" b="1" dirty="0">
                <a:solidFill>
                  <a:srgbClr val="E8A33D"/>
                </a:solidFill>
                <a:latin typeface="Cambria" pitchFamily="34" charset="0"/>
                <a:ea typeface="Cambria" pitchFamily="34" charset="-122"/>
                <a:cs typeface="Cambria" pitchFamily="34" charset="-120"/>
              </a:rPr>
              <a:t>6</a:t>
            </a:r>
            <a:endParaRPr lang="en-US" sz="7800" dirty="0"/>
          </a:p>
        </p:txBody>
      </p:sp>
      <p:sp>
        <p:nvSpPr>
          <p:cNvPr id="6" name="Text 4"/>
          <p:cNvSpPr txBox="1"/>
          <p:nvPr/>
        </p:nvSpPr>
        <p:spPr>
          <a:xfrm>
            <a:off x="2834640" y="3886200"/>
            <a:ext cx="182880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 cada 10</a:t>
            </a:r>
            <a:endParaRPr lang="en-US" sz="1600" dirty="0"/>
          </a:p>
        </p:txBody>
      </p:sp>
      <p:sp>
        <p:nvSpPr>
          <p:cNvPr id="7" name="Text 5"/>
          <p:cNvSpPr txBox="1"/>
          <p:nvPr/>
        </p:nvSpPr>
        <p:spPr>
          <a:xfrm>
            <a:off x="822960" y="4892040"/>
            <a:ext cx="5394960" cy="777240"/>
          </a:xfrm>
          <a:prstGeom prst="rect">
            <a:avLst/>
          </a:prstGeom>
          <a:noFill/>
          <a:ln/>
        </p:spPr>
        <p:txBody>
          <a:bodyPr wrap="square" lIns="0" tIns="0" rIns="0" bIns="0" rtlCol="0" anchor="ctr"/>
          <a:lstStyle/>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clientes que el modelo marca como “alta probabilidad de aceptar”, efectivamente aceptan.</a:t>
            </a:r>
            <a:endParaRPr lang="en-US" sz="1300" dirty="0"/>
          </a:p>
        </p:txBody>
      </p:sp>
      <p:sp>
        <p:nvSpPr>
          <p:cNvPr id="8" name="Shape 6"/>
          <p:cNvSpPr/>
          <p:nvPr/>
        </p:nvSpPr>
        <p:spPr>
          <a:xfrm>
            <a:off x="6766560" y="3429000"/>
            <a:ext cx="4873752" cy="2331720"/>
          </a:xfrm>
          <a:prstGeom prst="roundRect">
            <a:avLst>
              <a:gd name="adj" fmla="val 4706"/>
            </a:avLst>
          </a:prstGeom>
          <a:solidFill>
            <a:srgbClr val="EEF2FB"/>
          </a:solidFill>
          <a:ln/>
        </p:spPr>
      </p:sp>
      <p:sp>
        <p:nvSpPr>
          <p:cNvPr id="9" name="Text 7"/>
          <p:cNvSpPr txBox="1"/>
          <p:nvPr/>
        </p:nvSpPr>
        <p:spPr>
          <a:xfrm>
            <a:off x="7040880" y="3611880"/>
            <a:ext cx="4343400" cy="2011680"/>
          </a:xfrm>
          <a:prstGeom prst="rect">
            <a:avLst/>
          </a:prstGeom>
          <a:noFill/>
          <a:ln/>
        </p:spPr>
        <p:txBody>
          <a:bodyPr wrap="square" lIns="0" tIns="0" rIns="0" bIns="0" rtlCol="0" anchor="ctr"/>
          <a:lstStyle/>
          <a:p>
            <a:pPr indent="0" marL="0">
              <a:lnSpc>
                <a:spcPct val="130000"/>
              </a:lnSpc>
              <a:buNone/>
            </a:pPr>
            <a:r>
              <a:rPr lang="en-US" sz="1350" dirty="0">
                <a:solidFill>
                  <a:srgbClr val="1E2761"/>
                </a:solidFill>
                <a:latin typeface="Calibri" pitchFamily="34" charset="0"/>
                <a:ea typeface="Calibri" pitchFamily="34" charset="-122"/>
                <a:cs typeface="Calibri" pitchFamily="34" charset="-120"/>
              </a:rPr>
              <a:t>Mejora medible frente a priorizar solo por monto de deuda: se gestiona primero a quien de verdad va a responder, y de forma más personalizada.</a:t>
            </a:r>
            <a:endParaRPr lang="en-US" sz="1350" dirty="0"/>
          </a:p>
        </p:txBody>
      </p:sp>
      <p:sp>
        <p:nvSpPr>
          <p:cNvPr id="10" name="Text 8"/>
          <p:cNvSpPr txBox="1"/>
          <p:nvPr/>
        </p:nvSpPr>
        <p:spPr>
          <a:xfrm>
            <a:off x="11365992" y="6355080"/>
            <a:ext cx="457200" cy="32004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BLOQUE EJECUTIVO · ALCANCE DEL ASISTENTE</a:t>
            </a:r>
            <a:endParaRPr lang="en-US" sz="1200" dirty="0"/>
          </a:p>
        </p:txBody>
      </p:sp>
      <p:sp>
        <p:nvSpPr>
          <p:cNvPr id="3" name="Text 1"/>
          <p:cNvSpPr txBox="1"/>
          <p:nvPr/>
        </p:nvSpPr>
        <p:spPr>
          <a:xfrm>
            <a:off x="548640" y="713232"/>
            <a:ext cx="1078992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Automatiza el contacto, nunca la política de crédito</a:t>
            </a:r>
            <a:endParaRPr lang="en-US" sz="3200" dirty="0"/>
          </a:p>
        </p:txBody>
      </p:sp>
      <p:sp>
        <p:nvSpPr>
          <p:cNvPr id="4" name="Shape 2"/>
          <p:cNvSpPr/>
          <p:nvPr/>
        </p:nvSpPr>
        <p:spPr>
          <a:xfrm>
            <a:off x="548640" y="1965960"/>
            <a:ext cx="5394960" cy="3977640"/>
          </a:xfrm>
          <a:prstGeom prst="roundRect">
            <a:avLst>
              <a:gd name="adj" fmla="val 2759"/>
            </a:avLst>
          </a:prstGeom>
          <a:solidFill>
            <a:srgbClr val="EEF2FB"/>
          </a:solidFill>
          <a:ln/>
        </p:spPr>
      </p:sp>
      <p:sp>
        <p:nvSpPr>
          <p:cNvPr id="5" name="Shape 3"/>
          <p:cNvSpPr/>
          <p:nvPr/>
        </p:nvSpPr>
        <p:spPr>
          <a:xfrm>
            <a:off x="822960" y="2240280"/>
            <a:ext cx="640080" cy="64008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06170" y="2323490"/>
            <a:ext cx="473659" cy="473659"/>
          </a:xfrm>
          <a:prstGeom prst="rect">
            <a:avLst/>
          </a:prstGeom>
        </p:spPr>
      </p:pic>
      <p:sp>
        <p:nvSpPr>
          <p:cNvPr id="7" name="Text 4"/>
          <p:cNvSpPr txBox="1"/>
          <p:nvPr/>
        </p:nvSpPr>
        <p:spPr>
          <a:xfrm>
            <a:off x="1600200" y="2331720"/>
            <a:ext cx="411480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Sí automatiza</a:t>
            </a:r>
            <a:endParaRPr lang="en-US" sz="1700" dirty="0"/>
          </a:p>
        </p:txBody>
      </p:sp>
      <p:sp>
        <p:nvSpPr>
          <p:cNvPr id="8" name="Text 5"/>
          <p:cNvSpPr txBox="1"/>
          <p:nvPr/>
        </p:nvSpPr>
        <p:spPr>
          <a:xfrm>
            <a:off x="868680" y="3063240"/>
            <a:ext cx="4846320" cy="2011680"/>
          </a:xfrm>
          <a:prstGeom prst="rect">
            <a:avLst/>
          </a:prstGeom>
          <a:noFill/>
          <a:ln/>
        </p:spPr>
        <p:txBody>
          <a:bodyPr wrap="square" lIns="0" tIns="0" rIns="0" bIns="0" rtlCol="0" anchor="t"/>
          <a:lstStyle/>
          <a:p>
            <a:pPr indent="0" marL="0">
              <a:lnSpc>
                <a:spcPct val="130000"/>
              </a:lnSpc>
              <a:buNone/>
            </a:pPr>
            <a:r>
              <a:rPr lang="en-US" sz="1400" dirty="0">
                <a:solidFill>
                  <a:srgbClr val="1E2761"/>
                </a:solidFill>
                <a:latin typeface="Calibri" pitchFamily="34" charset="0"/>
                <a:ea typeface="Calibri" pitchFamily="34" charset="-122"/>
                <a:cs typeface="Calibri" pitchFamily="34" charset="-120"/>
              </a:rPr>
              <a:t>Ofrecer solo lo que la política de crédito ya autorizó para ese cliente — nunca “inventa” un descuento ni una condición nueva.</a:t>
            </a:r>
            <a:endParaRPr lang="en-US" sz="1400" dirty="0"/>
          </a:p>
        </p:txBody>
      </p:sp>
      <p:sp>
        <p:nvSpPr>
          <p:cNvPr id="9" name="Shape 6"/>
          <p:cNvSpPr/>
          <p:nvPr/>
        </p:nvSpPr>
        <p:spPr>
          <a:xfrm>
            <a:off x="6245352" y="1965960"/>
            <a:ext cx="5394960" cy="3977640"/>
          </a:xfrm>
          <a:prstGeom prst="roundRect">
            <a:avLst>
              <a:gd name="adj" fmla="val 2759"/>
            </a:avLst>
          </a:prstGeom>
          <a:solidFill>
            <a:srgbClr val="1E2761"/>
          </a:solidFill>
          <a:ln/>
        </p:spPr>
      </p:sp>
      <p:sp>
        <p:nvSpPr>
          <p:cNvPr id="10" name="Shape 7"/>
          <p:cNvSpPr/>
          <p:nvPr/>
        </p:nvSpPr>
        <p:spPr>
          <a:xfrm>
            <a:off x="6519672" y="2240280"/>
            <a:ext cx="640080" cy="640080"/>
          </a:xfrm>
          <a:prstGeom prst="ellipse">
            <a:avLst/>
          </a:prstGeom>
          <a:solidFill>
            <a:srgbClr val="141A47"/>
          </a:solidFill>
          <a:ln/>
        </p:spPr>
      </p:sp>
      <p:pic>
        <p:nvPicPr>
          <p:cNvPr id="11" name="Image 1" descr="preencoded.png">    </p:cNvPr>
          <p:cNvPicPr>
            <a:picLocks noChangeAspect="1"/>
          </p:cNvPicPr>
          <p:nvPr/>
        </p:nvPicPr>
        <p:blipFill>
          <a:blip r:embed="rId2"/>
          <a:stretch>
            <a:fillRect/>
          </a:stretch>
        </p:blipFill>
        <p:spPr>
          <a:xfrm>
            <a:off x="6602882" y="2323490"/>
            <a:ext cx="473659" cy="473659"/>
          </a:xfrm>
          <a:prstGeom prst="rect">
            <a:avLst/>
          </a:prstGeom>
        </p:spPr>
      </p:pic>
      <p:sp>
        <p:nvSpPr>
          <p:cNvPr id="12" name="Text 8"/>
          <p:cNvSpPr txBox="1"/>
          <p:nvPr/>
        </p:nvSpPr>
        <p:spPr>
          <a:xfrm>
            <a:off x="7296912" y="2331720"/>
            <a:ext cx="4114800" cy="457200"/>
          </a:xfrm>
          <a:prstGeom prst="rect">
            <a:avLst/>
          </a:prstGeom>
          <a:noFill/>
          <a:ln/>
        </p:spPr>
        <p:txBody>
          <a:bodyPr wrap="square" lIns="0" tIns="0" rIns="0" bIns="0" rtlCol="0" anchor="ctr"/>
          <a:lstStyle/>
          <a:p>
            <a:pPr indent="0" marL="0">
              <a:buNone/>
            </a:pPr>
            <a:r>
              <a:rPr lang="en-US" sz="1700" b="1" dirty="0">
                <a:solidFill>
                  <a:srgbClr val="E8A33D"/>
                </a:solidFill>
                <a:latin typeface="Cambria" pitchFamily="34" charset="0"/>
                <a:ea typeface="Cambria" pitchFamily="34" charset="-122"/>
                <a:cs typeface="Cambria" pitchFamily="34" charset="-120"/>
              </a:rPr>
              <a:t>No decide solo</a:t>
            </a:r>
            <a:endParaRPr lang="en-US" sz="1700" dirty="0"/>
          </a:p>
        </p:txBody>
      </p:sp>
      <p:sp>
        <p:nvSpPr>
          <p:cNvPr id="13" name="Text 9"/>
          <p:cNvSpPr txBox="1"/>
          <p:nvPr/>
        </p:nvSpPr>
        <p:spPr>
          <a:xfrm>
            <a:off x="6565392" y="3063240"/>
            <a:ext cx="4754880" cy="2011680"/>
          </a:xfrm>
          <a:prstGeom prst="rect">
            <a:avLst/>
          </a:prstGeom>
          <a:noFill/>
          <a:ln/>
        </p:spPr>
        <p:txBody>
          <a:bodyPr wrap="square" lIns="0" tIns="0" rIns="0" bIns="0" rtlCol="0" anchor="t"/>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Cualquier caso sensible, dudoso o fuera de lo normal se transfiere automáticamente a un gestor humano — con el contexto completo de la conversación.</a:t>
            </a:r>
            <a:endParaRPr lang="en-US" sz="1400" dirty="0"/>
          </a:p>
        </p:txBody>
      </p:sp>
      <p:sp>
        <p:nvSpPr>
          <p:cNvPr id="14" name="Text 10"/>
          <p:cNvSpPr txBox="1"/>
          <p:nvPr/>
        </p:nvSpPr>
        <p:spPr>
          <a:xfrm>
            <a:off x="11365992" y="6355080"/>
            <a:ext cx="457200" cy="32004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BLOQUE EJECUTIVO · GESTIÓN DE RIESGOS</a:t>
            </a:r>
            <a:endParaRPr lang="en-US" sz="1200" dirty="0"/>
          </a:p>
        </p:txBody>
      </p:sp>
      <p:sp>
        <p:nvSpPr>
          <p:cNvPr id="3" name="Text 1"/>
          <p:cNvSpPr txBox="1"/>
          <p:nvPr/>
        </p:nvSpPr>
        <p:spPr>
          <a:xfrm>
            <a:off x="548640" y="713232"/>
            <a:ext cx="10789920" cy="82296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Riesgos y cómo se controlan</a:t>
            </a:r>
            <a:endParaRPr lang="en-US" sz="3200" dirty="0"/>
          </a:p>
        </p:txBody>
      </p:sp>
      <p:sp>
        <p:nvSpPr>
          <p:cNvPr id="4" name="Shape 2"/>
          <p:cNvSpPr/>
          <p:nvPr/>
        </p:nvSpPr>
        <p:spPr>
          <a:xfrm>
            <a:off x="548640" y="2011680"/>
            <a:ext cx="3456432" cy="3794760"/>
          </a:xfrm>
          <a:prstGeom prst="roundRect">
            <a:avLst>
              <a:gd name="adj" fmla="val 2646"/>
            </a:avLst>
          </a:prstGeom>
          <a:solidFill>
            <a:srgbClr val="EEF2FB"/>
          </a:solidFill>
          <a:ln/>
        </p:spPr>
      </p:sp>
      <p:sp>
        <p:nvSpPr>
          <p:cNvPr id="5" name="Shape 3"/>
          <p:cNvSpPr/>
          <p:nvPr/>
        </p:nvSpPr>
        <p:spPr>
          <a:xfrm>
            <a:off x="822960" y="2286000"/>
            <a:ext cx="658368" cy="658368"/>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08548" y="2371588"/>
            <a:ext cx="487192" cy="487192"/>
          </a:xfrm>
          <a:prstGeom prst="rect">
            <a:avLst/>
          </a:prstGeom>
        </p:spPr>
      </p:pic>
      <p:sp>
        <p:nvSpPr>
          <p:cNvPr id="7" name="Text 4"/>
          <p:cNvSpPr txBox="1"/>
          <p:nvPr/>
        </p:nvSpPr>
        <p:spPr>
          <a:xfrm>
            <a:off x="822960" y="3108960"/>
            <a:ext cx="2907792" cy="777240"/>
          </a:xfrm>
          <a:prstGeom prst="rect">
            <a:avLst/>
          </a:prstGeom>
          <a:noFill/>
          <a:ln/>
        </p:spPr>
        <p:txBody>
          <a:bodyPr wrap="square" lIns="0" tIns="0" rIns="0" bIns="0" rtlCol="0" anchor="ctr"/>
          <a:lstStyle/>
          <a:p>
            <a:pPr indent="0" marL="0">
              <a:lnSpc>
                <a:spcPct val="110000"/>
              </a:lnSpc>
              <a:buNone/>
            </a:pPr>
            <a:r>
              <a:rPr lang="en-US" sz="1450" b="1" dirty="0">
                <a:solidFill>
                  <a:srgbClr val="1E2761"/>
                </a:solidFill>
                <a:latin typeface="Cambria" pitchFamily="34" charset="0"/>
                <a:ea typeface="Cambria" pitchFamily="34" charset="-122"/>
                <a:cs typeface="Cambria" pitchFamily="34" charset="-120"/>
              </a:rPr>
              <a:t>El modelo se desactualiza</a:t>
            </a:r>
            <a:endParaRPr lang="en-US" sz="1450" dirty="0"/>
          </a:p>
        </p:txBody>
      </p:sp>
      <p:sp>
        <p:nvSpPr>
          <p:cNvPr id="8" name="Text 5"/>
          <p:cNvSpPr txBox="1"/>
          <p:nvPr/>
        </p:nvSpPr>
        <p:spPr>
          <a:xfrm>
            <a:off x="822960" y="3931920"/>
            <a:ext cx="2907792" cy="1737360"/>
          </a:xfrm>
          <a:prstGeom prst="rect">
            <a:avLst/>
          </a:prstGeom>
          <a:noFill/>
          <a:ln/>
        </p:spPr>
        <p:txBody>
          <a:bodyPr wrap="square" lIns="0" tIns="0" rIns="0" bIns="0" rtlCol="0" anchor="t"/>
          <a:lstStyle/>
          <a:p>
            <a:pPr indent="0" marL="0">
              <a:lnSpc>
                <a:spcPct val="130000"/>
              </a:lnSpc>
              <a:buNone/>
            </a:pPr>
            <a:r>
              <a:rPr lang="en-US" sz="1250" dirty="0">
                <a:solidFill>
                  <a:srgbClr val="5B6B8C"/>
                </a:solidFill>
                <a:latin typeface="Calibri" pitchFamily="34" charset="0"/>
                <a:ea typeface="Calibri" pitchFamily="34" charset="-122"/>
                <a:cs typeface="Calibri" pitchFamily="34" charset="-120"/>
              </a:rPr>
              <a:t>Monitoreo mensual con alerta automática de deriva</a:t>
            </a:r>
            <a:endParaRPr lang="en-US" sz="1250" dirty="0"/>
          </a:p>
        </p:txBody>
      </p:sp>
      <p:sp>
        <p:nvSpPr>
          <p:cNvPr id="9" name="Shape 6"/>
          <p:cNvSpPr/>
          <p:nvPr/>
        </p:nvSpPr>
        <p:spPr>
          <a:xfrm>
            <a:off x="4325112" y="2011680"/>
            <a:ext cx="3456432" cy="3794760"/>
          </a:xfrm>
          <a:prstGeom prst="roundRect">
            <a:avLst>
              <a:gd name="adj" fmla="val 2646"/>
            </a:avLst>
          </a:prstGeom>
          <a:solidFill>
            <a:srgbClr val="EEF2FB"/>
          </a:solidFill>
          <a:ln/>
        </p:spPr>
      </p:sp>
      <p:sp>
        <p:nvSpPr>
          <p:cNvPr id="10" name="Shape 7"/>
          <p:cNvSpPr/>
          <p:nvPr/>
        </p:nvSpPr>
        <p:spPr>
          <a:xfrm>
            <a:off x="4599432" y="2286000"/>
            <a:ext cx="658368" cy="658368"/>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4685020" y="2371588"/>
            <a:ext cx="487192" cy="487192"/>
          </a:xfrm>
          <a:prstGeom prst="rect">
            <a:avLst/>
          </a:prstGeom>
        </p:spPr>
      </p:pic>
      <p:sp>
        <p:nvSpPr>
          <p:cNvPr id="12" name="Text 8"/>
          <p:cNvSpPr txBox="1"/>
          <p:nvPr/>
        </p:nvSpPr>
        <p:spPr>
          <a:xfrm>
            <a:off x="4599432" y="3108960"/>
            <a:ext cx="2907792" cy="777240"/>
          </a:xfrm>
          <a:prstGeom prst="rect">
            <a:avLst/>
          </a:prstGeom>
          <a:noFill/>
          <a:ln/>
        </p:spPr>
        <p:txBody>
          <a:bodyPr wrap="square" lIns="0" tIns="0" rIns="0" bIns="0" rtlCol="0" anchor="ctr"/>
          <a:lstStyle/>
          <a:p>
            <a:pPr indent="0" marL="0">
              <a:lnSpc>
                <a:spcPct val="110000"/>
              </a:lnSpc>
              <a:buNone/>
            </a:pPr>
            <a:r>
              <a:rPr lang="en-US" sz="1450" b="1" dirty="0">
                <a:solidFill>
                  <a:srgbClr val="1E2761"/>
                </a:solidFill>
                <a:latin typeface="Cambria" pitchFamily="34" charset="0"/>
                <a:ea typeface="Cambria" pitchFamily="34" charset="-122"/>
                <a:cs typeface="Cambria" pitchFamily="34" charset="-120"/>
              </a:rPr>
              <a:t>El asistente ofrece algo indebido</a:t>
            </a:r>
            <a:endParaRPr lang="en-US" sz="1450" dirty="0"/>
          </a:p>
        </p:txBody>
      </p:sp>
      <p:sp>
        <p:nvSpPr>
          <p:cNvPr id="13" name="Text 9"/>
          <p:cNvSpPr txBox="1"/>
          <p:nvPr/>
        </p:nvSpPr>
        <p:spPr>
          <a:xfrm>
            <a:off x="4599432" y="3931920"/>
            <a:ext cx="2907792" cy="1737360"/>
          </a:xfrm>
          <a:prstGeom prst="rect">
            <a:avLst/>
          </a:prstGeom>
          <a:noFill/>
          <a:ln/>
        </p:spPr>
        <p:txBody>
          <a:bodyPr wrap="square" lIns="0" tIns="0" rIns="0" bIns="0" rtlCol="0" anchor="t"/>
          <a:lstStyle/>
          <a:p>
            <a:pPr indent="0" marL="0">
              <a:lnSpc>
                <a:spcPct val="130000"/>
              </a:lnSpc>
              <a:buNone/>
            </a:pPr>
            <a:r>
              <a:rPr lang="en-US" sz="1250" dirty="0">
                <a:solidFill>
                  <a:srgbClr val="5B6B8C"/>
                </a:solidFill>
                <a:latin typeface="Calibri" pitchFamily="34" charset="0"/>
                <a:ea typeface="Calibri" pitchFamily="34" charset="-122"/>
                <a:cs typeface="Calibri" pitchFamily="34" charset="-120"/>
              </a:rPr>
              <a:t>Bloqueo automático + auditoría del 100% de las conversaciones</a:t>
            </a:r>
            <a:endParaRPr lang="en-US" sz="1250" dirty="0"/>
          </a:p>
        </p:txBody>
      </p:sp>
      <p:sp>
        <p:nvSpPr>
          <p:cNvPr id="14" name="Shape 10"/>
          <p:cNvSpPr/>
          <p:nvPr/>
        </p:nvSpPr>
        <p:spPr>
          <a:xfrm>
            <a:off x="8101584" y="2011680"/>
            <a:ext cx="3456432" cy="3794760"/>
          </a:xfrm>
          <a:prstGeom prst="roundRect">
            <a:avLst>
              <a:gd name="adj" fmla="val 2646"/>
            </a:avLst>
          </a:prstGeom>
          <a:solidFill>
            <a:srgbClr val="EEF2FB"/>
          </a:solidFill>
          <a:ln/>
        </p:spPr>
      </p:sp>
      <p:sp>
        <p:nvSpPr>
          <p:cNvPr id="15" name="Shape 11"/>
          <p:cNvSpPr/>
          <p:nvPr/>
        </p:nvSpPr>
        <p:spPr>
          <a:xfrm>
            <a:off x="8375904" y="2286000"/>
            <a:ext cx="658368" cy="658368"/>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8461492" y="2371588"/>
            <a:ext cx="487192" cy="487192"/>
          </a:xfrm>
          <a:prstGeom prst="rect">
            <a:avLst/>
          </a:prstGeom>
        </p:spPr>
      </p:pic>
      <p:sp>
        <p:nvSpPr>
          <p:cNvPr id="17" name="Text 12"/>
          <p:cNvSpPr txBox="1"/>
          <p:nvPr/>
        </p:nvSpPr>
        <p:spPr>
          <a:xfrm>
            <a:off x="8375904" y="3108960"/>
            <a:ext cx="2907792" cy="777240"/>
          </a:xfrm>
          <a:prstGeom prst="rect">
            <a:avLst/>
          </a:prstGeom>
          <a:noFill/>
          <a:ln/>
        </p:spPr>
        <p:txBody>
          <a:bodyPr wrap="square" lIns="0" tIns="0" rIns="0" bIns="0" rtlCol="0" anchor="ctr"/>
          <a:lstStyle/>
          <a:p>
            <a:pPr indent="0" marL="0">
              <a:lnSpc>
                <a:spcPct val="110000"/>
              </a:lnSpc>
              <a:buNone/>
            </a:pPr>
            <a:r>
              <a:rPr lang="en-US" sz="1450" b="1" dirty="0">
                <a:solidFill>
                  <a:srgbClr val="1E2761"/>
                </a:solidFill>
                <a:latin typeface="Cambria" pitchFamily="34" charset="0"/>
                <a:ea typeface="Cambria" pitchFamily="34" charset="-122"/>
                <a:cs typeface="Cambria" pitchFamily="34" charset="-120"/>
              </a:rPr>
              <a:t>Riesgo reputacional / legal</a:t>
            </a:r>
            <a:endParaRPr lang="en-US" sz="1450" dirty="0"/>
          </a:p>
        </p:txBody>
      </p:sp>
      <p:sp>
        <p:nvSpPr>
          <p:cNvPr id="18" name="Text 13"/>
          <p:cNvSpPr txBox="1"/>
          <p:nvPr/>
        </p:nvSpPr>
        <p:spPr>
          <a:xfrm>
            <a:off x="8375904" y="3931920"/>
            <a:ext cx="2907792" cy="1737360"/>
          </a:xfrm>
          <a:prstGeom prst="rect">
            <a:avLst/>
          </a:prstGeom>
          <a:noFill/>
          <a:ln/>
        </p:spPr>
        <p:txBody>
          <a:bodyPr wrap="square" lIns="0" tIns="0" rIns="0" bIns="0" rtlCol="0" anchor="t"/>
          <a:lstStyle/>
          <a:p>
            <a:pPr indent="0" marL="0">
              <a:lnSpc>
                <a:spcPct val="130000"/>
              </a:lnSpc>
              <a:buNone/>
            </a:pPr>
            <a:r>
              <a:rPr lang="en-US" sz="1250" dirty="0">
                <a:solidFill>
                  <a:srgbClr val="5B6B8C"/>
                </a:solidFill>
                <a:latin typeface="Calibri" pitchFamily="34" charset="0"/>
                <a:ea typeface="Calibri" pitchFamily="34" charset="-122"/>
                <a:cs typeface="Calibri" pitchFamily="34" charset="-120"/>
              </a:rPr>
              <a:t>Siempre hay un humano disponible y trazabilidad completa de cada decisión</a:t>
            </a:r>
            <a:endParaRPr lang="en-US" sz="1250" dirty="0"/>
          </a:p>
        </p:txBody>
      </p:sp>
      <p:sp>
        <p:nvSpPr>
          <p:cNvPr id="19" name="Text 14"/>
          <p:cNvSpPr txBox="1"/>
          <p:nvPr/>
        </p:nvSpPr>
        <p:spPr>
          <a:xfrm>
            <a:off x="11365992" y="6355080"/>
            <a:ext cx="457200" cy="32004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A47"/>
        </a:solidFill>
      </p:bgPr>
    </p:bg>
    <p:spTree>
      <p:nvGrpSpPr>
        <p:cNvPr id="1" name=""/>
        <p:cNvGrpSpPr/>
        <p:nvPr/>
      </p:nvGrpSpPr>
      <p:grpSpPr>
        <a:xfrm>
          <a:off x="0" y="0"/>
          <a:ext cx="0" cy="0"/>
          <a:chOff x="0" y="0"/>
          <a:chExt cx="0" cy="0"/>
        </a:xfrm>
      </p:grpSpPr>
      <p:sp>
        <p:nvSpPr>
          <p:cNvPr id="2" name="Shape 0"/>
          <p:cNvSpPr/>
          <p:nvPr/>
        </p:nvSpPr>
        <p:spPr>
          <a:xfrm>
            <a:off x="8961120" y="-2286000"/>
            <a:ext cx="5486400" cy="5486400"/>
          </a:xfrm>
          <a:prstGeom prst="ellipse">
            <a:avLst/>
          </a:prstGeom>
          <a:solidFill>
            <a:srgbClr val="1E2761"/>
          </a:solidFill>
          <a:ln/>
        </p:spPr>
      </p:sp>
      <p:sp>
        <p:nvSpPr>
          <p:cNvPr id="3" name="Shape 1"/>
          <p:cNvSpPr/>
          <p:nvPr/>
        </p:nvSpPr>
        <p:spPr>
          <a:xfrm>
            <a:off x="5591556" y="1051560"/>
            <a:ext cx="1005840" cy="10058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5722315" y="1182319"/>
            <a:ext cx="744322" cy="744322"/>
          </a:xfrm>
          <a:prstGeom prst="rect">
            <a:avLst/>
          </a:prstGeom>
        </p:spPr>
      </p:pic>
      <p:sp>
        <p:nvSpPr>
          <p:cNvPr id="5" name="Text 2"/>
          <p:cNvSpPr txBox="1"/>
          <p:nvPr/>
        </p:nvSpPr>
        <p:spPr>
          <a:xfrm>
            <a:off x="0" y="2331720"/>
            <a:ext cx="12188952" cy="411480"/>
          </a:xfrm>
          <a:prstGeom prst="rect">
            <a:avLst/>
          </a:prstGeom>
          <a:noFill/>
          <a:ln/>
        </p:spPr>
        <p:txBody>
          <a:bodyPr wrap="square" lIns="0" tIns="0" rIns="0" bIns="0" rtlCol="0" anchor="ctr"/>
          <a:lstStyle/>
          <a:p>
            <a:pPr algn="ctr" indent="0" marL="0">
              <a:buNone/>
            </a:pPr>
            <a:r>
              <a:rPr lang="en-US" sz="1300" b="1" spc="300" kern="0" dirty="0">
                <a:solidFill>
                  <a:srgbClr val="E8A33D"/>
                </a:solidFill>
                <a:latin typeface="Calibri" pitchFamily="34" charset="0"/>
                <a:ea typeface="Calibri" pitchFamily="34" charset="-122"/>
                <a:cs typeface="Calibri" pitchFamily="34" charset="-120"/>
              </a:rPr>
              <a:t>PEDIDO CONCRETO</a:t>
            </a:r>
            <a:endParaRPr lang="en-US" sz="1300" dirty="0"/>
          </a:p>
        </p:txBody>
      </p:sp>
      <p:sp>
        <p:nvSpPr>
          <p:cNvPr id="6" name="Text 3"/>
          <p:cNvSpPr txBox="1"/>
          <p:nvPr/>
        </p:nvSpPr>
        <p:spPr>
          <a:xfrm>
            <a:off x="0" y="2743200"/>
            <a:ext cx="12188952"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Aprobar un piloto controlado</a:t>
            </a:r>
            <a:endParaRPr lang="en-US" sz="3000" dirty="0"/>
          </a:p>
        </p:txBody>
      </p:sp>
      <p:sp>
        <p:nvSpPr>
          <p:cNvPr id="7" name="Text 4"/>
          <p:cNvSpPr txBox="1"/>
          <p:nvPr/>
        </p:nvSpPr>
        <p:spPr>
          <a:xfrm>
            <a:off x="1888236" y="3611880"/>
            <a:ext cx="8412480" cy="1463040"/>
          </a:xfrm>
          <a:prstGeom prst="rect">
            <a:avLst/>
          </a:prstGeom>
          <a:noFill/>
          <a:ln/>
        </p:spPr>
        <p:txBody>
          <a:bodyPr wrap="square" lIns="0" tIns="0" rIns="0" bIns="0" rtlCol="0" anchor="ctr"/>
          <a:lstStyle/>
          <a:p>
            <a:pPr algn="ctr" indent="0" marL="0">
              <a:lnSpc>
                <a:spcPct val="135000"/>
              </a:lnSpc>
              <a:buNone/>
            </a:pPr>
            <a:r>
              <a:rPr lang="en-US" sz="1500" dirty="0">
                <a:solidFill>
                  <a:srgbClr val="CADCFC"/>
                </a:solidFill>
                <a:latin typeface="Calibri" pitchFamily="34" charset="0"/>
                <a:ea typeface="Calibri" pitchFamily="34" charset="-122"/>
                <a:cs typeface="Calibri" pitchFamily="34" charset="-120"/>
              </a:rPr>
              <a:t>Un segmento o mes acotado, con monitoreo diario, antes de escalar a toda la cartera — definiendo en conjunto con Riesgo, Jurídico y Cumplimiento el umbral de qué se considera un caso “sensible”.</a:t>
            </a:r>
            <a:endParaRPr lang="en-US" sz="1500" dirty="0"/>
          </a:p>
        </p:txBody>
      </p:sp>
      <p:sp>
        <p:nvSpPr>
          <p:cNvPr id="8" name="Shape 5"/>
          <p:cNvSpPr/>
          <p:nvPr/>
        </p:nvSpPr>
        <p:spPr>
          <a:xfrm>
            <a:off x="5088636" y="5394960"/>
            <a:ext cx="2011680" cy="0"/>
          </a:xfrm>
          <a:prstGeom prst="line">
            <a:avLst/>
          </a:prstGeom>
          <a:noFill/>
          <a:ln w="25400">
            <a:solidFill>
              <a:srgbClr val="E8A33D"/>
            </a:solidFill>
            <a:prstDash val="solid"/>
          </a:ln>
        </p:spPr>
      </p:sp>
      <p:sp>
        <p:nvSpPr>
          <p:cNvPr id="9" name="Text 6"/>
          <p:cNvSpPr txBox="1"/>
          <p:nvPr/>
        </p:nvSpPr>
        <p:spPr>
          <a:xfrm>
            <a:off x="0" y="5577840"/>
            <a:ext cx="12188952" cy="45720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Gracias — quedo atento a sus preguntas</a:t>
            </a:r>
            <a:endParaRPr lang="en-US" sz="1400" dirty="0"/>
          </a:p>
        </p:txBody>
      </p:sp>
      <p:sp>
        <p:nvSpPr>
          <p:cNvPr id="10" name="Text 7"/>
          <p:cNvSpPr txBox="1"/>
          <p:nvPr/>
        </p:nvSpPr>
        <p:spPr>
          <a:xfrm>
            <a:off x="11365992" y="6355080"/>
            <a:ext cx="457200" cy="32004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Mission 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Prueba Técnica Bancolombia — Modelo de Propensión y Sistema Agéntico</dc:title>
  <dc:subject>PptxGenJS Presentation</dc:subject>
  <dc:creator>Jose Nelson Gonzalez</dc:creator>
  <cp:lastModifiedBy>Jose Nelson Gonzalez</cp:lastModifiedBy>
  <cp:revision>1</cp:revision>
  <dcterms:created xsi:type="dcterms:W3CDTF">2026-09-22T22:52:57Z</dcterms:created>
  <dcterms:modified xsi:type="dcterms:W3CDTF">2026-09-22T22:52:57Z</dcterms:modified>
</cp:coreProperties>
</file>